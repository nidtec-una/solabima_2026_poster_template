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5400000"/>
          </a:xfrm>
          <a:prstGeom prst="rect">
            <a:avLst/>
          </a:prstGeom>
          <a:solidFill>
            <a:srgbClr val="003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720000"/>
            <a:ext cx="28476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TITULO DEL TRABAJO EN MAYUSCULAS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980000"/>
            <a:ext cx="284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Georgia"/>
              </a:rPr>
              <a:t>Subtitulo opcional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772000"/>
            <a:ext cx="2847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Georgia"/>
              </a:rPr>
              <a:t>Nombre Apellido¹, Nombre Apellido², Nombre Apellido¹,*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600000"/>
            <a:ext cx="2847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rial"/>
              </a:rPr>
              <a:t>¹Facultad Politecnica, Universidad Nacional de Asuncion (FPUNA), Paraguay    ²Institucion / Departamento</a:t>
            </a:r>
          </a:p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Arial"/>
              </a:rPr>
              <a:t>*Autor de correspondencia: correo@ejemplo.py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6300000"/>
            <a:ext cx="13788000" cy="68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000" y="6300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6300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Motivacion / Introduccion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7380000"/>
            <a:ext cx="1306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02020"/>
                </a:solidFill>
                <a:latin typeface="Arial"/>
              </a:rPr>
              <a:t>Presente aqui el contexto y la motivacion del trabajo: el problema abordado, su relevancia dentro de la biologia matematica y los antecedentes mas importantes.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9720000"/>
            <a:ext cx="13068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Antecedente o dato relevante 1.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Antecedente o dato relevante 2.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Vacio de conocimiento que motiva este trabajo.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13788000"/>
            <a:ext cx="13788000" cy="39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13788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0000" y="13788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14868000"/>
            <a:ext cx="1306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Objetivo general del trabajo.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Objetivo especifico 1.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Objetivo especifico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000" y="18396000"/>
            <a:ext cx="13788000" cy="936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000" y="18396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" y="18396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Metodologia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" y="19476000"/>
            <a:ext cx="1306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02020"/>
                </a:solidFill>
                <a:latin typeface="Arial"/>
              </a:rPr>
              <a:t>Describa el enfoque, modelo matematico, datos y/o algoritmos utilizados.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0000" y="20844000"/>
            <a:ext cx="1306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Diseno del estudio / modelo propuesto.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Fuentes de datos o parametros.</a:t>
            </a:r>
          </a:p>
          <a:p>
            <a:pPr algn="l" marL="228600" indent="-228600">
              <a:lnSpc>
                <a:spcPct val="115000"/>
              </a:lnSpc>
              <a:spcAft>
                <a:spcPts val="800"/>
              </a:spcAft>
              <a:buFont typeface="Arial"/>
              <a:buChar char="▪"/>
            </a:pPr>
            <a:r>
              <a:rPr sz="1700">
                <a:solidFill>
                  <a:srgbClr val="202020"/>
                </a:solidFill>
                <a:latin typeface="Arial"/>
              </a:rPr>
              <a:t>Herramientas y metodos de analisis.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0000" y="23508000"/>
            <a:ext cx="13068000" cy="38880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77777"/>
                </a:solidFill>
                <a:latin typeface="Arial"/>
              </a:rPr>
              <a:t>Espacio para ecuacion, diagrama de flujo
o esquema del modelo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88000" y="6300000"/>
            <a:ext cx="13788000" cy="140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88000" y="6300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948000" y="6300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48000" y="7380000"/>
            <a:ext cx="130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02020"/>
                </a:solidFill>
                <a:latin typeface="Arial"/>
              </a:rPr>
              <a:t>Presente los resultados principales, apoyados en figuras y/o tablas.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48000" y="8640000"/>
            <a:ext cx="13068000" cy="79200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77777"/>
                </a:solidFill>
                <a:latin typeface="Arial"/>
              </a:rPr>
              <a:t>Figura 1. Espacio para figura principal
(grafico, mapa, simulacion, etc.)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948000" y="16920000"/>
            <a:ext cx="13068000" cy="30600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i="1">
                <a:solidFill>
                  <a:srgbClr val="777777"/>
                </a:solidFill>
                <a:latin typeface="Arial"/>
              </a:rPr>
              <a:t>Tabla 1. Espacio para tabla de resultados
(parametro, valor, IC 95%, 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88000" y="20988000"/>
            <a:ext cx="13788000" cy="72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588000" y="20988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948000" y="20988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Referencias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48000" y="22068000"/>
            <a:ext cx="10368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02020"/>
                </a:solidFill>
                <a:latin typeface="Arial"/>
              </a:rPr>
              <a:t>[1] Apellido, N. (Ano). Titulo del articulo. Revista, vol(num), paginas.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02020"/>
                </a:solidFill>
                <a:latin typeface="Arial"/>
              </a:rPr>
              <a:t>[2] Apellido, N. &amp; Apellido, N. (Ano). Titulo del articulo. Revista, vol(num), paginas.</a:t>
            </a:r>
          </a:p>
        </p:txBody>
      </p:sp>
      <p:pic>
        <p:nvPicPr>
          <p:cNvPr id="32" name="Picture 31" descr="_qr_solabima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6000" y="22068000"/>
            <a:ext cx="2160000" cy="216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6496000" y="2430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02020"/>
                </a:solidFill>
                <a:latin typeface="Arial"/>
              </a:rPr>
              <a:t>Escanee para mas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02020"/>
                </a:solidFill>
                <a:latin typeface="Arial"/>
              </a:rPr>
              <a:t>informacion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88000" y="28836000"/>
            <a:ext cx="13788000" cy="360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588000" y="28836000"/>
            <a:ext cx="13788000" cy="720000"/>
          </a:xfrm>
          <a:prstGeom prst="rect">
            <a:avLst/>
          </a:prstGeom>
          <a:solidFill>
            <a:srgbClr val="003B49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948000" y="28836000"/>
            <a:ext cx="1306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Agradecimientos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48000" y="29916000"/>
            <a:ext cx="1306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02020"/>
                </a:solidFill>
                <a:latin typeface="Arial"/>
              </a:rPr>
              <a:t>Financiamiento, institucion o colegas a reconocer.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000" y="33336000"/>
            <a:ext cx="28476000" cy="50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000" y="33768000"/>
            <a:ext cx="28476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03B49"/>
                </a:solidFill>
                <a:latin typeface="Arial"/>
              </a:rPr>
              <a:t>INSTITUCIONES ORGANIZADORAS Y AUSPICIANTES</a:t>
            </a:r>
          </a:p>
        </p:txBody>
      </p:sp>
      <p:pic>
        <p:nvPicPr>
          <p:cNvPr id="40" name="Picture 39" descr="logo_solab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000" y="36036000"/>
            <a:ext cx="4050000" cy="1620000"/>
          </a:xfrm>
          <a:prstGeom prst="rect">
            <a:avLst/>
          </a:prstGeom>
        </p:spPr>
      </p:pic>
      <p:pic>
        <p:nvPicPr>
          <p:cNvPr id="41" name="Picture 40" descr="logo_u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36036000"/>
            <a:ext cx="4050000" cy="1620000"/>
          </a:xfrm>
          <a:prstGeom prst="rect">
            <a:avLst/>
          </a:prstGeom>
        </p:spPr>
      </p:pic>
      <p:pic>
        <p:nvPicPr>
          <p:cNvPr id="42" name="Picture 41" descr="logo_fpu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8000" y="36036000"/>
            <a:ext cx="4050000" cy="1620000"/>
          </a:xfrm>
          <a:prstGeom prst="rect">
            <a:avLst/>
          </a:prstGeom>
        </p:spPr>
      </p:pic>
      <p:pic>
        <p:nvPicPr>
          <p:cNvPr id="43" name="Picture 42" descr="logo_aras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08000" y="36036000"/>
            <a:ext cx="4050000" cy="1620000"/>
          </a:xfrm>
          <a:prstGeom prst="rect">
            <a:avLst/>
          </a:prstGeom>
        </p:spPr>
      </p:pic>
      <p:pic>
        <p:nvPicPr>
          <p:cNvPr id="44" name="Picture 43" descr="logo_custom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88000" y="36036000"/>
            <a:ext cx="4050000" cy="1620000"/>
          </a:xfrm>
          <a:prstGeom prst="rect">
            <a:avLst/>
          </a:prstGeom>
        </p:spPr>
      </p:pic>
      <p:pic>
        <p:nvPicPr>
          <p:cNvPr id="45" name="Picture 44" descr="logo_custom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68000" y="36036000"/>
            <a:ext cx="4050000" cy="1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