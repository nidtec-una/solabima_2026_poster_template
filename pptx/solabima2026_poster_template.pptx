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43"/>
    <p:restoredTop sz="94681"/>
  </p:normalViewPr>
  <p:slideViewPr>
    <p:cSldViewPr snapToGrid="0" snapToObjects="1">
      <p:cViewPr>
        <p:scale>
          <a:sx n="37" d="100"/>
          <a:sy n="37" d="100"/>
        </p:scale>
        <p:origin x="144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35400" y="1415981"/>
            <a:ext cx="20437199" cy="24400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0" b="1" i="0" dirty="0">
                <a:solidFill>
                  <a:srgbClr val="1C6EA8"/>
                </a:solidFill>
                <a:latin typeface="Arial"/>
              </a:rPr>
              <a:t>TÍTULO DEL TRABAJO EN</a:t>
            </a:r>
            <a:endParaRPr lang="en-US" sz="7200" b="1" dirty="0">
              <a:solidFill>
                <a:srgbClr val="1C6EA8"/>
              </a:solidFill>
              <a:latin typeface="Arial"/>
            </a:endParaRPr>
          </a:p>
          <a:p>
            <a:pPr algn="ctr">
              <a:lnSpc>
                <a:spcPct val="115000"/>
              </a:lnSpc>
            </a:pPr>
            <a:r>
              <a:rPr sz="7200" b="1" i="0" dirty="0">
                <a:solidFill>
                  <a:srgbClr val="1C6EA8"/>
                </a:solidFill>
                <a:latin typeface="Arial"/>
              </a:rPr>
              <a:t>MAYÚSCULAS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19006" y="4129530"/>
            <a:ext cx="20437199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 i="0" dirty="0" err="1">
                <a:solidFill>
                  <a:srgbClr val="C2661F"/>
                </a:solidFill>
                <a:latin typeface="Arial"/>
              </a:rPr>
              <a:t>Subtítulo</a:t>
            </a:r>
            <a:r>
              <a:rPr sz="4000" b="1" i="0" dirty="0">
                <a:solidFill>
                  <a:srgbClr val="C2661F"/>
                </a:solidFill>
                <a:latin typeface="Arial"/>
              </a:rPr>
              <a:t> </a:t>
            </a:r>
            <a:r>
              <a:rPr sz="4000" b="1" i="0" dirty="0" err="1">
                <a:solidFill>
                  <a:srgbClr val="C2661F"/>
                </a:solidFill>
                <a:latin typeface="Arial"/>
              </a:rPr>
              <a:t>opcional</a:t>
            </a:r>
            <a:endParaRPr sz="4000" b="1" i="0" dirty="0">
              <a:solidFill>
                <a:srgbClr val="C2661F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919006" y="5524195"/>
            <a:ext cx="20437199" cy="649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0" i="0" dirty="0">
                <a:solidFill>
                  <a:srgbClr val="333333"/>
                </a:solidFill>
                <a:latin typeface="Georgia"/>
              </a:rPr>
              <a:t>Nombre Apellido¹, Nombre Apellido², Nombre </a:t>
            </a:r>
            <a:r>
              <a:rPr sz="4000" b="0" i="0" dirty="0" err="1">
                <a:solidFill>
                  <a:srgbClr val="333333"/>
                </a:solidFill>
                <a:latin typeface="Georgia"/>
              </a:rPr>
              <a:t>Apellido</a:t>
            </a:r>
            <a:r>
              <a:rPr lang="en-NO" sz="4000" b="0" i="0" dirty="0">
                <a:solidFill>
                  <a:srgbClr val="333333"/>
                </a:solidFill>
                <a:latin typeface="Georgia"/>
              </a:rPr>
              <a:t>¹*</a:t>
            </a:r>
            <a:endParaRPr sz="4000" b="0" i="0" dirty="0">
              <a:solidFill>
                <a:srgbClr val="333333"/>
              </a:solidFill>
              <a:latin typeface="Georg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919006" y="6468395"/>
            <a:ext cx="20437199" cy="1402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0" i="0" dirty="0">
                <a:solidFill>
                  <a:srgbClr val="333333"/>
                </a:solidFill>
                <a:latin typeface="Georgia"/>
              </a:rPr>
              <a:t>¹Facultad de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Ciencias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Imaginarias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, Universidad de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Algún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 Lugar, País</a:t>
            </a:r>
          </a:p>
          <a:p>
            <a:pPr algn="ctr">
              <a:lnSpc>
                <a:spcPct val="115000"/>
              </a:lnSpc>
            </a:pPr>
            <a:r>
              <a:rPr sz="3200" b="0" i="0" dirty="0">
                <a:solidFill>
                  <a:srgbClr val="333333"/>
                </a:solidFill>
                <a:latin typeface="Georgia"/>
              </a:rPr>
              <a:t>²Instituto de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Ejemplos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Genéricos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, Ciudad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Ficticia</a:t>
            </a:r>
            <a:endParaRPr sz="3200" b="0" i="0" dirty="0">
              <a:solidFill>
                <a:srgbClr val="333333"/>
              </a:solidFill>
              <a:latin typeface="Georgia"/>
            </a:endParaRPr>
          </a:p>
          <a:p>
            <a:pPr algn="ctr">
              <a:lnSpc>
                <a:spcPct val="115000"/>
              </a:lnSpc>
            </a:pPr>
            <a:r>
              <a:rPr sz="3200" b="0" i="0" dirty="0">
                <a:solidFill>
                  <a:srgbClr val="333333"/>
                </a:solidFill>
                <a:latin typeface="Georgia"/>
              </a:rPr>
              <a:t>*Autor de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correspondencia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: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correo@ejemplo.py</a:t>
            </a:r>
            <a:endParaRPr sz="3200" b="0" i="0" dirty="0">
              <a:solidFill>
                <a:srgbClr val="333333"/>
              </a:solidFill>
              <a:latin typeface="Georgia"/>
            </a:endParaRPr>
          </a:p>
        </p:txBody>
      </p:sp>
      <p:pic>
        <p:nvPicPr>
          <p:cNvPr id="6" name="Picture 5" descr="logo_solabim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000" y="2873963"/>
            <a:ext cx="4290000" cy="4680000"/>
          </a:xfrm>
          <a:prstGeom prst="rect">
            <a:avLst/>
          </a:prstGeom>
        </p:spPr>
      </p:pic>
      <p:pic>
        <p:nvPicPr>
          <p:cNvPr id="7" name="Picture 6" descr="logo_header_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98929" y="4000009"/>
            <a:ext cx="4335000" cy="3060000"/>
          </a:xfrm>
          <a:prstGeom prst="rect">
            <a:avLst/>
          </a:prstGeom>
        </p:spPr>
      </p:pic>
      <p:sp>
        <p:nvSpPr>
          <p:cNvPr id="8" name="Round Diagonal Corner Rectangle 7"/>
          <p:cNvSpPr/>
          <p:nvPr/>
        </p:nvSpPr>
        <p:spPr>
          <a:xfrm>
            <a:off x="540000" y="9216000"/>
            <a:ext cx="14148000" cy="9977693"/>
          </a:xfrm>
          <a:prstGeom prst="round2DiagRect">
            <a:avLst>
              <a:gd name="adj1" fmla="val 3186"/>
              <a:gd name="adj2" fmla="val 3186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4000" y="9720000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 dirty="0" err="1">
                <a:solidFill>
                  <a:srgbClr val="1C6EA8"/>
                </a:solidFill>
                <a:latin typeface="Arial"/>
              </a:rPr>
              <a:t>Motivación</a:t>
            </a:r>
            <a:r>
              <a:rPr sz="4800" b="1" i="0" dirty="0">
                <a:solidFill>
                  <a:srgbClr val="1C6EA8"/>
                </a:solidFill>
                <a:latin typeface="Arial"/>
              </a:rPr>
              <a:t> / </a:t>
            </a:r>
            <a:r>
              <a:rPr sz="4800" b="1" i="0" dirty="0" err="1">
                <a:solidFill>
                  <a:srgbClr val="1C6EA8"/>
                </a:solidFill>
                <a:latin typeface="Arial"/>
              </a:rPr>
              <a:t>Introducción</a:t>
            </a:r>
            <a:endParaRPr sz="4800" b="1" i="0" dirty="0">
              <a:solidFill>
                <a:srgbClr val="1C6EA8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43213" y="10992878"/>
            <a:ext cx="13140000" cy="1652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>
                <a:solidFill>
                  <a:srgbClr val="000000"/>
                </a:solidFill>
                <a:latin typeface="Georgia"/>
              </a:rPr>
              <a:t>Presente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aquí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el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contexto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y la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motivación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del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trabajo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: el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problema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abordado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su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relevancia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dentro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de la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biología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matemática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y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los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antecedentes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más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importantes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3213" y="13098550"/>
            <a:ext cx="13140000" cy="2218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>
                <a:solidFill>
                  <a:srgbClr val="000000"/>
                </a:solidFill>
                <a:latin typeface="Georgia"/>
              </a:rPr>
              <a:t>Lorem ipsum dolor sit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amet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consectetur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adipiscing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elit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sed do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eiusmod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tempor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incididunt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labore et dolore magna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aliqua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 Ut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enim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ad minim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veniam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quis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nostrud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exercitation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ullamco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laboris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nisi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aliquip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ex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commodo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consequat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3213" y="15737731"/>
            <a:ext cx="13140000" cy="31312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Antecedente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dato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relevante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1.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Antecedente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dato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relevante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2.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Vacío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de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conocimiento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que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motiva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este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trabajo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>
                <a:solidFill>
                  <a:srgbClr val="000000"/>
                </a:solidFill>
                <a:latin typeface="Georgia"/>
              </a:rPr>
              <a:t>Duis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aute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irure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dolor in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reprehenderit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in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velit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esse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cillum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dolore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eu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fugiat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nulla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pariatur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13" name="Round Diagonal Corner Rectangle 12"/>
          <p:cNvSpPr/>
          <p:nvPr/>
        </p:nvSpPr>
        <p:spPr>
          <a:xfrm>
            <a:off x="539213" y="19894905"/>
            <a:ext cx="14148000" cy="3974886"/>
          </a:xfrm>
          <a:prstGeom prst="round2DiagRect">
            <a:avLst>
              <a:gd name="adj1" fmla="val 7233"/>
              <a:gd name="adj2" fmla="val 7233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43213" y="20358604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 dirty="0" err="1">
                <a:solidFill>
                  <a:srgbClr val="1C6EA8"/>
                </a:solidFill>
                <a:latin typeface="Arial"/>
              </a:rPr>
              <a:t>Objetivos</a:t>
            </a:r>
            <a:endParaRPr sz="4800" b="1" i="0" dirty="0">
              <a:solidFill>
                <a:srgbClr val="1C6EA8"/>
              </a:solidFill>
              <a:latin typeface="Ari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43213" y="21468196"/>
            <a:ext cx="13140000" cy="1883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Objetivo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general del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trabajo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Objetivo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específico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1.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Objetivo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específico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2.</a:t>
            </a:r>
          </a:p>
        </p:txBody>
      </p:sp>
      <p:sp>
        <p:nvSpPr>
          <p:cNvPr id="16" name="Round Diagonal Corner Rectangle 15"/>
          <p:cNvSpPr/>
          <p:nvPr/>
        </p:nvSpPr>
        <p:spPr>
          <a:xfrm>
            <a:off x="539213" y="24571003"/>
            <a:ext cx="14148000" cy="13329345"/>
          </a:xfrm>
          <a:prstGeom prst="round2DiagRect">
            <a:avLst>
              <a:gd name="adj1" fmla="val 2595"/>
              <a:gd name="adj2" fmla="val 2595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43213" y="25014683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 dirty="0" err="1">
                <a:solidFill>
                  <a:srgbClr val="1C6EA8"/>
                </a:solidFill>
                <a:latin typeface="Arial"/>
              </a:rPr>
              <a:t>Metodología</a:t>
            </a:r>
            <a:endParaRPr sz="4800" b="1" i="0" dirty="0">
              <a:solidFill>
                <a:srgbClr val="1C6EA8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43213" y="26211396"/>
            <a:ext cx="13140000" cy="10860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 err="1">
                <a:solidFill>
                  <a:srgbClr val="000000"/>
                </a:solidFill>
                <a:latin typeface="Georgia"/>
              </a:rPr>
              <a:t>Describa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el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enfoque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modelo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matemático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datos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y/o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algoritmos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utilizados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213" y="27552976"/>
            <a:ext cx="13140000" cy="2218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>
                <a:solidFill>
                  <a:srgbClr val="000000"/>
                </a:solidFill>
                <a:latin typeface="Georgia"/>
              </a:rPr>
              <a:t>Sed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perspiciatis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unde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omnis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iste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natus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error sit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voluptatem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accusantium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doloremque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laudantium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Totam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rem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aperiam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eaque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ipsa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quae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ab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illo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inventore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veritatis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et quasi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architecto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beatae vitae dicta sunt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explicabo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3213" y="30027173"/>
            <a:ext cx="13140000" cy="31312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Diseño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del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estudio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/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modelo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propuesto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>
                <a:solidFill>
                  <a:srgbClr val="000000"/>
                </a:solidFill>
                <a:latin typeface="Georgia"/>
              </a:rPr>
              <a:t>Fuentes de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datos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parámetros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Herramientas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y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métodos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de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análisis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>
                <a:solidFill>
                  <a:srgbClr val="000000"/>
                </a:solidFill>
                <a:latin typeface="Georgia"/>
              </a:rPr>
              <a:t>Nemo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enim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ipsam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voluptatem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quia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sit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aspernatur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odit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fugit.</a:t>
            </a:r>
          </a:p>
        </p:txBody>
      </p:sp>
      <p:pic>
        <p:nvPicPr>
          <p:cNvPr id="21" name="Picture 20" descr="equation_sir.png"/>
          <p:cNvPicPr>
            <a:picLocks noChangeAspect="1"/>
          </p:cNvPicPr>
          <p:nvPr/>
        </p:nvPicPr>
        <p:blipFill>
          <a:blip r:embed="rId4"/>
          <a:srcRect l="33265" r="33302"/>
          <a:stretch>
            <a:fillRect/>
          </a:stretch>
        </p:blipFill>
        <p:spPr>
          <a:xfrm>
            <a:off x="5959668" y="33372360"/>
            <a:ext cx="3307090" cy="358413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44000" y="37173003"/>
            <a:ext cx="13140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 dirty="0" err="1">
                <a:solidFill>
                  <a:srgbClr val="F19651"/>
                </a:solidFill>
                <a:latin typeface="Georgia"/>
              </a:rPr>
              <a:t>Ejemplo</a:t>
            </a:r>
            <a:r>
              <a:rPr sz="2400" b="1" dirty="0">
                <a:solidFill>
                  <a:srgbClr val="F19651"/>
                </a:solidFill>
                <a:latin typeface="Georgia"/>
              </a:rPr>
              <a:t>: </a:t>
            </a:r>
            <a:r>
              <a:rPr lang="en-US" sz="2400" b="1" dirty="0">
                <a:solidFill>
                  <a:srgbClr val="000000"/>
                </a:solidFill>
                <a:latin typeface="Georgia"/>
              </a:rPr>
              <a:t>M</a:t>
            </a:r>
            <a:r>
              <a:rPr sz="2400" b="1" dirty="0">
                <a:solidFill>
                  <a:srgbClr val="000000"/>
                </a:solidFill>
                <a:latin typeface="Georgia"/>
              </a:rPr>
              <a:t>odelo SIR de </a:t>
            </a:r>
            <a:r>
              <a:rPr sz="2400" b="1" dirty="0" err="1">
                <a:solidFill>
                  <a:srgbClr val="000000"/>
                </a:solidFill>
                <a:latin typeface="Georgia"/>
              </a:rPr>
              <a:t>dinámica</a:t>
            </a:r>
            <a:r>
              <a:rPr sz="2400" b="1" dirty="0">
                <a:solidFill>
                  <a:srgbClr val="000000"/>
                </a:solidFill>
                <a:latin typeface="Georgia"/>
              </a:rPr>
              <a:t> </a:t>
            </a:r>
            <a:r>
              <a:rPr sz="2400" b="1" dirty="0" err="1">
                <a:solidFill>
                  <a:srgbClr val="000000"/>
                </a:solidFill>
                <a:latin typeface="Georgia"/>
              </a:rPr>
              <a:t>epidémica</a:t>
            </a:r>
            <a:endParaRPr sz="2400" b="1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23" name="Round Diagonal Corner Rectangle 22"/>
          <p:cNvSpPr/>
          <p:nvPr/>
        </p:nvSpPr>
        <p:spPr>
          <a:xfrm>
            <a:off x="15588000" y="9215999"/>
            <a:ext cx="14148000" cy="16703129"/>
          </a:xfrm>
          <a:prstGeom prst="round2DiagRect">
            <a:avLst>
              <a:gd name="adj1" fmla="val 1792"/>
              <a:gd name="adj2" fmla="val 1792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6092000" y="9720000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1C6EA8"/>
                </a:solidFill>
                <a:latin typeface="Arial"/>
              </a:rPr>
              <a:t>Resultados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91213" y="10709040"/>
            <a:ext cx="13140000" cy="5197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 err="1">
                <a:solidFill>
                  <a:srgbClr val="000000"/>
                </a:solidFill>
                <a:latin typeface="Georgia"/>
              </a:rPr>
              <a:t>Presente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los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resultados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principales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apoyados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en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figuras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y/o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tablas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91213" y="11516799"/>
            <a:ext cx="13140000" cy="1652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 err="1">
                <a:solidFill>
                  <a:srgbClr val="000000"/>
                </a:solidFill>
                <a:latin typeface="Georgia"/>
              </a:rPr>
              <a:t>Totam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rem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aperiam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eaque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ipsa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quae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ab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illo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inventore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veritatis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et quasi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architecto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beatae vitae dicta sunt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explicabo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 Nemo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enim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ipsam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voluptatem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quia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voluptas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sit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aspernatur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odit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fugit.</a:t>
            </a:r>
          </a:p>
        </p:txBody>
      </p:sp>
      <p:sp>
        <p:nvSpPr>
          <p:cNvPr id="27" name="Round Diagonal Corner Rectangle 26"/>
          <p:cNvSpPr/>
          <p:nvPr/>
        </p:nvSpPr>
        <p:spPr>
          <a:xfrm>
            <a:off x="18812322" y="13621636"/>
            <a:ext cx="7699355" cy="3600000"/>
          </a:xfrm>
          <a:prstGeom prst="round2DiagRect">
            <a:avLst>
              <a:gd name="adj1" fmla="val 7000"/>
              <a:gd name="adj2" fmla="val 7000"/>
            </a:avLst>
          </a:prstGeom>
          <a:solidFill>
            <a:srgbClr val="F4F8FB"/>
          </a:solidFill>
          <a:ln w="19050">
            <a:solidFill>
              <a:srgbClr val="1C6E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500">
                <a:solidFill>
                  <a:srgbClr val="1C6EA8"/>
                </a:solidFill>
                <a:latin typeface="Georgia"/>
              </a:rPr>
              <a:t>Espacio para figura principal
(gráfico, mapa, simulación, etc.)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92000" y="17277260"/>
            <a:ext cx="13140000" cy="350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F19651"/>
                </a:solidFill>
                <a:latin typeface="Georgia"/>
              </a:rPr>
              <a:t>Figura: </a:t>
            </a:r>
            <a:r>
              <a:rPr sz="2400" b="1">
                <a:solidFill>
                  <a:srgbClr val="000000"/>
                </a:solidFill>
                <a:latin typeface="Georgia"/>
              </a:rPr>
              <a:t>Descripción breve del resultado.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92000" y="18229387"/>
            <a:ext cx="13140000" cy="350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F19651"/>
                </a:solidFill>
                <a:latin typeface="Georgia"/>
              </a:rPr>
              <a:t>Tabla: </a:t>
            </a:r>
            <a:r>
              <a:rPr sz="2400" b="1">
                <a:solidFill>
                  <a:srgbClr val="000000"/>
                </a:solidFill>
                <a:latin typeface="Georgia"/>
              </a:rPr>
              <a:t>Descripción breve de la tabla.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2027515"/>
              </p:ext>
            </p:extLst>
          </p:nvPr>
        </p:nvGraphicFramePr>
        <p:xfrm>
          <a:off x="16092000" y="18723906"/>
          <a:ext cx="13140000" cy="2160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28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8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85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000000"/>
                          </a:solidFill>
                          <a:latin typeface="Georgia"/>
                        </a:rPr>
                        <a:t>Parámetro</a:t>
                      </a:r>
                    </a:p>
                  </a:txBody>
                  <a:tcPr marL="108000" marR="108000" marT="36000" marB="36000" anchor="ctr"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000000"/>
                          </a:solidFill>
                          <a:latin typeface="Georgia"/>
                        </a:rPr>
                        <a:t>Valor</a:t>
                      </a:r>
                    </a:p>
                  </a:txBody>
                  <a:tcPr marL="108000" marR="108000" marT="36000" marB="36000" anchor="ctr"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000000"/>
                          </a:solidFill>
                          <a:latin typeface="Georgia"/>
                        </a:rPr>
                        <a:t>IC 95%</a:t>
                      </a:r>
                    </a:p>
                  </a:txBody>
                  <a:tcPr marL="108000" marR="108000" marT="36000" marB="36000" anchor="ctr"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000000"/>
                          </a:solidFill>
                          <a:latin typeface="Georgia"/>
                        </a:rPr>
                        <a:t>p</a:t>
                      </a:r>
                    </a:p>
                  </a:txBody>
                  <a:tcPr marL="108000" marR="108000" marT="36000" marB="36000" anchor="ctr">
                    <a:solidFill>
                      <a:srgbClr val="ED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Parámetro 1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3.14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(3.10, 3.18)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0.001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Parámetro 2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2.72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(2.68, 2.76)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0.007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2100" b="0" dirty="0" err="1">
                          <a:solidFill>
                            <a:srgbClr val="000000"/>
                          </a:solidFill>
                          <a:latin typeface="Georgia"/>
                        </a:rPr>
                        <a:t>Parámetro</a:t>
                      </a:r>
                      <a:r>
                        <a:rPr sz="2100" b="0" dirty="0">
                          <a:solidFill>
                            <a:srgbClr val="000000"/>
                          </a:solidFill>
                          <a:latin typeface="Georgia"/>
                        </a:rPr>
                        <a:t> 3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 dirty="0">
                          <a:solidFill>
                            <a:srgbClr val="000000"/>
                          </a:solidFill>
                          <a:latin typeface="Georgia"/>
                        </a:rPr>
                        <a:t>1.62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(1.58, 1.66)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 dirty="0">
                          <a:solidFill>
                            <a:srgbClr val="000000"/>
                          </a:solidFill>
                          <a:latin typeface="Georgia"/>
                        </a:rPr>
                        <a:t>0.042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16091213" y="21726403"/>
            <a:ext cx="13140000" cy="35821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>
                <a:solidFill>
                  <a:srgbClr val="000000"/>
                </a:solidFill>
                <a:latin typeface="Georgia"/>
              </a:rPr>
              <a:t>Sed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ut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perspiciatis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unde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omnis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iste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natus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error sit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voluptatem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accusantium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doloremque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laudantium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>
                <a:solidFill>
                  <a:srgbClr val="000000"/>
                </a:solidFill>
                <a:latin typeface="Georgia"/>
              </a:rPr>
              <a:t>Nemo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enim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ipsam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voluptatem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quia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sit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aspernatur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odit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fugit, sed quia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consequuntur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magni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dolores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Neque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porro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quisquam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est, qui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dolorem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ipsum quia dolor sit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amet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consectetur</a:t>
            </a:r>
            <a:r>
              <a:rPr sz="320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adipisci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velit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32" name="Round Diagonal Corner Rectangle 31"/>
          <p:cNvSpPr/>
          <p:nvPr/>
        </p:nvSpPr>
        <p:spPr>
          <a:xfrm>
            <a:off x="15588000" y="26679046"/>
            <a:ext cx="14148000" cy="3483674"/>
          </a:xfrm>
          <a:prstGeom prst="round2DiagRect">
            <a:avLst>
              <a:gd name="adj1" fmla="val 7233"/>
              <a:gd name="adj2" fmla="val 7233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6092000" y="27036742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 dirty="0" err="1">
                <a:solidFill>
                  <a:srgbClr val="1C6EA8"/>
                </a:solidFill>
                <a:latin typeface="Arial"/>
              </a:rPr>
              <a:t>Conclusiones</a:t>
            </a:r>
            <a:endParaRPr sz="4800" b="1" i="0" dirty="0">
              <a:solidFill>
                <a:srgbClr val="1C6EA8"/>
              </a:solidFill>
              <a:latin typeface="Arial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6091213" y="27985027"/>
            <a:ext cx="13140000" cy="1883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Conclusión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principal 1.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Conclusión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principal 2.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Proyecciones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trabajo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futuro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35" name="Round Diagonal Corner Rectangle 34"/>
          <p:cNvSpPr/>
          <p:nvPr/>
        </p:nvSpPr>
        <p:spPr>
          <a:xfrm>
            <a:off x="15588000" y="30770805"/>
            <a:ext cx="14148000" cy="3161340"/>
          </a:xfrm>
          <a:prstGeom prst="round2DiagRect">
            <a:avLst>
              <a:gd name="adj1" fmla="val 7971"/>
              <a:gd name="adj2" fmla="val 7971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6092000" y="31274805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 dirty="0" err="1">
                <a:solidFill>
                  <a:srgbClr val="1C6EA8"/>
                </a:solidFill>
                <a:latin typeface="Arial"/>
              </a:rPr>
              <a:t>Referencias</a:t>
            </a:r>
            <a:endParaRPr sz="4800" b="1" i="0" dirty="0">
              <a:solidFill>
                <a:srgbClr val="1C6EA8"/>
              </a:solidFill>
              <a:latin typeface="Arial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6092000" y="32263845"/>
            <a:ext cx="13140000" cy="292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 dirty="0">
                <a:solidFill>
                  <a:srgbClr val="000000"/>
                </a:solidFill>
                <a:latin typeface="Georgia"/>
              </a:rPr>
              <a:t>[1]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Apellido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, N. (Año).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Título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 del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artículo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. Revista, vol(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núm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),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páginas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92000" y="32699945"/>
            <a:ext cx="13140000" cy="292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 dirty="0">
                <a:solidFill>
                  <a:srgbClr val="000000"/>
                </a:solidFill>
                <a:latin typeface="Georgia"/>
              </a:rPr>
              <a:t>[2]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Apellido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, N. &amp;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Apellido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, N. (Año).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Título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 del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artículo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. Revista, vol(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núm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),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páginas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92000" y="33136045"/>
            <a:ext cx="13140000" cy="292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Georgia"/>
              </a:rPr>
              <a:t>[3] Apellido, N., Apellido, N. &amp; Apellido, N. (Año). Título del artículo. Revista, vol(núm), páginas.</a:t>
            </a:r>
          </a:p>
        </p:txBody>
      </p:sp>
      <p:sp>
        <p:nvSpPr>
          <p:cNvPr id="40" name="Round Diagonal Corner Rectangle 39"/>
          <p:cNvSpPr/>
          <p:nvPr/>
        </p:nvSpPr>
        <p:spPr>
          <a:xfrm>
            <a:off x="15588000" y="34707749"/>
            <a:ext cx="14148000" cy="3192599"/>
          </a:xfrm>
          <a:prstGeom prst="round2DiagRect">
            <a:avLst>
              <a:gd name="adj1" fmla="val 7893"/>
              <a:gd name="adj2" fmla="val 7893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6092000" y="35325584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1C6EA8"/>
                </a:solidFill>
                <a:latin typeface="Arial"/>
              </a:rPr>
              <a:t>Agradecimientos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092000" y="36314624"/>
            <a:ext cx="13140000" cy="350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Georgia"/>
              </a:rPr>
              <a:t>Financiamiento, institución o colegas a reconocer.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92000" y="36809145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Georgia"/>
              </a:rPr>
              <a:t>Ut enim ad minim veniam, quis nostrud exercitation ullamco laboris nisi ut aliquip ex ea commodo consequat.</a:t>
            </a:r>
          </a:p>
        </p:txBody>
      </p:sp>
      <p:sp>
        <p:nvSpPr>
          <p:cNvPr id="44" name="Round Diagonal Corner Rectangle 43"/>
          <p:cNvSpPr/>
          <p:nvPr/>
        </p:nvSpPr>
        <p:spPr>
          <a:xfrm>
            <a:off x="540000" y="38780326"/>
            <a:ext cx="29196000" cy="3483674"/>
          </a:xfrm>
          <a:prstGeom prst="round2DiagRect">
            <a:avLst>
              <a:gd name="adj1" fmla="val 7777"/>
              <a:gd name="adj2" fmla="val 7777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44000" y="39276000"/>
            <a:ext cx="28188000" cy="7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0" i="1">
                <a:solidFill>
                  <a:srgbClr val="333333"/>
                </a:solidFill>
                <a:latin typeface="Georgia"/>
              </a:rPr>
              <a:t>Esta franja es opcional: puede usarla para agregar más logos, información adicional, un código QR, etc., o eliminarla por completo si no la necesita.</a:t>
            </a:r>
          </a:p>
        </p:txBody>
      </p:sp>
      <p:pic>
        <p:nvPicPr>
          <p:cNvPr id="46" name="Picture 45" descr="logo_custom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17000" y="39962880"/>
            <a:ext cx="2805000" cy="1980000"/>
          </a:xfrm>
          <a:prstGeom prst="rect">
            <a:avLst/>
          </a:prstGeom>
        </p:spPr>
      </p:pic>
      <p:pic>
        <p:nvPicPr>
          <p:cNvPr id="47" name="Picture 46" descr="logo_custom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54000" y="39962880"/>
            <a:ext cx="2805000" cy="198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569</Words>
  <Application>Microsoft Macintosh PowerPoint</Application>
  <PresentationFormat>Custom</PresentationFormat>
  <Paragraphs>63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Jhabriel Varela</cp:lastModifiedBy>
  <cp:revision>4</cp:revision>
  <dcterms:created xsi:type="dcterms:W3CDTF">2013-01-27T09:14:16Z</dcterms:created>
  <dcterms:modified xsi:type="dcterms:W3CDTF">2026-08-30T21:52:34Z</dcterms:modified>
  <cp:category/>
</cp:coreProperties>
</file>