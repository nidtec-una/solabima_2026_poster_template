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6000" cy="42804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19400" y="720000"/>
            <a:ext cx="20437200" cy="2700000"/>
          </a:xfrm>
          <a:prstGeom prst="rect">
            <a:avLst/>
          </a:prstGeom>
          <a:noFill/>
        </p:spPr>
        <p:txBody>
          <a:bodyPr wrap="square" anchor="t">
            <a:spAutoFit/>
          </a:bodyPr>
          <a:lstStyle/>
          <a:p>
            <a:pPr algn="ctr">
              <a:lnSpc>
                <a:spcPct val="115000"/>
              </a:lnSpc>
            </a:pPr>
            <a:r>
              <a:rPr sz="5800" b="1" i="0">
                <a:solidFill>
                  <a:srgbClr val="1C6EA8"/>
                </a:solidFill>
                <a:latin typeface="Arial"/>
              </a:rPr>
              <a:t>TÍTULO DEL TRABAJO EN MAYÚSCULAS</a:t>
            </a:r>
          </a:p>
        </p:txBody>
      </p:sp>
      <p:sp>
        <p:nvSpPr>
          <p:cNvPr id="3" name="TextBox 2"/>
          <p:cNvSpPr txBox="1"/>
          <p:nvPr/>
        </p:nvSpPr>
        <p:spPr>
          <a:xfrm>
            <a:off x="4919400" y="3708000"/>
            <a:ext cx="20437200" cy="936000"/>
          </a:xfrm>
          <a:prstGeom prst="rect">
            <a:avLst/>
          </a:prstGeom>
          <a:noFill/>
        </p:spPr>
        <p:txBody>
          <a:bodyPr wrap="square">
            <a:spAutoFit/>
          </a:bodyPr>
          <a:lstStyle/>
          <a:p>
            <a:pPr algn="ctr">
              <a:lnSpc>
                <a:spcPct val="115000"/>
              </a:lnSpc>
            </a:pPr>
            <a:r>
              <a:rPr sz="3000" b="1" i="0">
                <a:solidFill>
                  <a:srgbClr val="C2661F"/>
                </a:solidFill>
                <a:latin typeface="Arial"/>
              </a:rPr>
              <a:t>Subtítulo opcional</a:t>
            </a:r>
          </a:p>
        </p:txBody>
      </p:sp>
      <p:sp>
        <p:nvSpPr>
          <p:cNvPr id="4" name="TextBox 3"/>
          <p:cNvSpPr txBox="1"/>
          <p:nvPr/>
        </p:nvSpPr>
        <p:spPr>
          <a:xfrm>
            <a:off x="4919400" y="5148000"/>
            <a:ext cx="20437200" cy="792000"/>
          </a:xfrm>
          <a:prstGeom prst="rect">
            <a:avLst/>
          </a:prstGeom>
          <a:noFill/>
        </p:spPr>
        <p:txBody>
          <a:bodyPr wrap="square">
            <a:spAutoFit/>
          </a:bodyPr>
          <a:lstStyle/>
          <a:p>
            <a:pPr algn="ctr">
              <a:lnSpc>
                <a:spcPct val="115000"/>
              </a:lnSpc>
            </a:pPr>
            <a:r>
              <a:rPr sz="2400" b="0" i="0">
                <a:solidFill>
                  <a:srgbClr val="333333"/>
                </a:solidFill>
                <a:latin typeface="Georgia"/>
              </a:rPr>
              <a:t>Nombre Apellido¹, Nombre Apellido², Nombre Apellido¹,*</a:t>
            </a:r>
          </a:p>
        </p:txBody>
      </p:sp>
      <p:sp>
        <p:nvSpPr>
          <p:cNvPr id="5" name="TextBox 4"/>
          <p:cNvSpPr txBox="1"/>
          <p:nvPr/>
        </p:nvSpPr>
        <p:spPr>
          <a:xfrm>
            <a:off x="4919400" y="6300000"/>
            <a:ext cx="20437200" cy="1620000"/>
          </a:xfrm>
          <a:prstGeom prst="rect">
            <a:avLst/>
          </a:prstGeom>
          <a:noFill/>
        </p:spPr>
        <p:txBody>
          <a:bodyPr wrap="square">
            <a:spAutoFit/>
          </a:bodyPr>
          <a:lstStyle/>
          <a:p>
            <a:pPr algn="ctr">
              <a:lnSpc>
                <a:spcPct val="115000"/>
              </a:lnSpc>
            </a:pPr>
            <a:r>
              <a:rPr sz="1800" b="0" i="0">
                <a:solidFill>
                  <a:srgbClr val="333333"/>
                </a:solidFill>
                <a:latin typeface="Georgia"/>
              </a:rPr>
              <a:t>¹Facultad de Ciencias Imaginarias, Universidad de Algún Lugar, País</a:t>
            </a:r>
          </a:p>
          <a:p>
            <a:pPr algn="ctr">
              <a:lnSpc>
                <a:spcPct val="115000"/>
              </a:lnSpc>
            </a:pPr>
            <a:r>
              <a:rPr sz="1800" b="0" i="0">
                <a:solidFill>
                  <a:srgbClr val="333333"/>
                </a:solidFill>
                <a:latin typeface="Georgia"/>
              </a:rPr>
              <a:t>²Instituto de Ejemplos Genéricos, Ciudad Ficticia</a:t>
            </a:r>
          </a:p>
          <a:p>
            <a:pPr algn="ctr">
              <a:lnSpc>
                <a:spcPct val="115000"/>
              </a:lnSpc>
            </a:pPr>
            <a:r>
              <a:rPr sz="1800" b="0" i="0">
                <a:solidFill>
                  <a:srgbClr val="333333"/>
                </a:solidFill>
                <a:latin typeface="Georgia"/>
              </a:rPr>
              <a:t>*Autor de correspondencia: correo@ejemplo.py</a:t>
            </a:r>
          </a:p>
        </p:txBody>
      </p:sp>
      <p:pic>
        <p:nvPicPr>
          <p:cNvPr id="6" name="Picture 5" descr="logo_solabima_badge.png"/>
          <p:cNvPicPr>
            <a:picLocks noChangeAspect="1"/>
          </p:cNvPicPr>
          <p:nvPr/>
        </p:nvPicPr>
        <p:blipFill>
          <a:blip r:embed="rId2"/>
          <a:stretch>
            <a:fillRect/>
          </a:stretch>
        </p:blipFill>
        <p:spPr>
          <a:xfrm>
            <a:off x="832200" y="2250000"/>
            <a:ext cx="3795000" cy="4140000"/>
          </a:xfrm>
          <a:prstGeom prst="rect">
            <a:avLst/>
          </a:prstGeom>
        </p:spPr>
      </p:pic>
      <p:pic>
        <p:nvPicPr>
          <p:cNvPr id="7" name="Picture 6" descr="logo_header_right.png"/>
          <p:cNvPicPr>
            <a:picLocks noChangeAspect="1"/>
          </p:cNvPicPr>
          <p:nvPr/>
        </p:nvPicPr>
        <p:blipFill>
          <a:blip r:embed="rId3"/>
          <a:stretch>
            <a:fillRect/>
          </a:stretch>
        </p:blipFill>
        <p:spPr>
          <a:xfrm>
            <a:off x="25633800" y="2970000"/>
            <a:ext cx="3825000" cy="2700000"/>
          </a:xfrm>
          <a:prstGeom prst="rect">
            <a:avLst/>
          </a:prstGeom>
        </p:spPr>
      </p:pic>
      <p:sp>
        <p:nvSpPr>
          <p:cNvPr id="8" name="Round Diagonal Corner Rectangle 7"/>
          <p:cNvSpPr/>
          <p:nvPr/>
        </p:nvSpPr>
        <p:spPr>
          <a:xfrm>
            <a:off x="540000" y="8820000"/>
            <a:ext cx="14148000" cy="7740000"/>
          </a:xfrm>
          <a:prstGeom prst="round2DiagRect">
            <a:avLst>
              <a:gd name="adj1" fmla="val 3255"/>
              <a:gd name="adj2" fmla="val 3255"/>
            </a:avLst>
          </a:prstGeom>
          <a:solidFill>
            <a:srgbClr val="FFFFFF"/>
          </a:solidFill>
          <a:ln w="25400">
            <a:solidFill>
              <a:srgbClr val="F7C5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4000" y="9324000"/>
            <a:ext cx="13140000" cy="720000"/>
          </a:xfrm>
          <a:prstGeom prst="rect">
            <a:avLst/>
          </a:prstGeom>
          <a:noFill/>
        </p:spPr>
        <p:txBody>
          <a:bodyPr wrap="square">
            <a:spAutoFit/>
          </a:bodyPr>
          <a:lstStyle/>
          <a:p>
            <a:pPr algn="l">
              <a:lnSpc>
                <a:spcPct val="115000"/>
              </a:lnSpc>
            </a:pPr>
            <a:r>
              <a:rPr sz="2800" b="1" i="0">
                <a:solidFill>
                  <a:srgbClr val="1C6EA8"/>
                </a:solidFill>
                <a:latin typeface="Arial"/>
              </a:rPr>
              <a:t>Motivación / Introducción</a:t>
            </a:r>
          </a:p>
        </p:txBody>
      </p:sp>
      <p:sp>
        <p:nvSpPr>
          <p:cNvPr id="10" name="TextBox 9"/>
          <p:cNvSpPr txBox="1"/>
          <p:nvPr/>
        </p:nvSpPr>
        <p:spPr>
          <a:xfrm>
            <a:off x="1044000" y="10260000"/>
            <a:ext cx="13140000" cy="1260000"/>
          </a:xfrm>
          <a:prstGeom prst="rect">
            <a:avLst/>
          </a:prstGeom>
          <a:noFill/>
        </p:spPr>
        <p:txBody>
          <a:bodyPr wrap="square">
            <a:spAutoFit/>
          </a:bodyPr>
          <a:lstStyle/>
          <a:p>
            <a:pPr algn="l">
              <a:lnSpc>
                <a:spcPct val="115000"/>
              </a:lnSpc>
            </a:pPr>
            <a:r>
              <a:rPr sz="1600" b="0" i="0">
                <a:solidFill>
                  <a:srgbClr val="000000"/>
                </a:solidFill>
                <a:latin typeface="Georgia"/>
              </a:rPr>
              <a:t>Presente aquí el contexto y la motivación del trabajo: el problema abordado, su relevancia dentro de la biología matemática y los antecedentes más importantes.</a:t>
            </a:r>
          </a:p>
        </p:txBody>
      </p:sp>
      <p:sp>
        <p:nvSpPr>
          <p:cNvPr id="11" name="TextBox 10"/>
          <p:cNvSpPr txBox="1"/>
          <p:nvPr/>
        </p:nvSpPr>
        <p:spPr>
          <a:xfrm>
            <a:off x="1044000" y="11628000"/>
            <a:ext cx="13140000" cy="1620000"/>
          </a:xfrm>
          <a:prstGeom prst="rect">
            <a:avLst/>
          </a:prstGeom>
          <a:noFill/>
        </p:spPr>
        <p:txBody>
          <a:bodyPr wrap="square">
            <a:spAutoFit/>
          </a:bodyPr>
          <a:lstStyle/>
          <a:p>
            <a:pPr algn="l">
              <a:lnSpc>
                <a:spcPct val="115000"/>
              </a:lnSpc>
            </a:pPr>
            <a:r>
              <a:rPr sz="1600" b="0" i="0">
                <a:solidFill>
                  <a:srgbClr val="000000"/>
                </a:solidFill>
                <a:latin typeface="Georgia"/>
              </a:rPr>
              <a:t>Lorem ipsum dolor sit amet, consectetur adipiscing elit, sed do eiusmod tempor incididunt ut labore et dolore magna aliqua. Ut enim ad minim veniam, quis nostrud exercitation ullamco laboris nisi ut aliquip ex ea commodo consequat.</a:t>
            </a:r>
          </a:p>
        </p:txBody>
      </p:sp>
      <p:sp>
        <p:nvSpPr>
          <p:cNvPr id="12" name="TextBox 11"/>
          <p:cNvSpPr txBox="1"/>
          <p:nvPr/>
        </p:nvSpPr>
        <p:spPr>
          <a:xfrm>
            <a:off x="1044000" y="13428000"/>
            <a:ext cx="13140000" cy="2628000"/>
          </a:xfrm>
          <a:prstGeom prst="rect">
            <a:avLst/>
          </a:prstGeom>
          <a:noFill/>
        </p:spPr>
        <p:txBody>
          <a:bodyPr wrap="square">
            <a:spAutoFit/>
          </a:bodyPr>
          <a:lstStyle/>
          <a:p>
            <a:pPr algn="l" marL="285750" indent="-285750">
              <a:lnSpc>
                <a:spcPct val="115000"/>
              </a:lnSpc>
              <a:spcAft>
                <a:spcPts val="800"/>
              </a:spcAft>
              <a:buClr>
                <a:srgbClr val="F19651"/>
              </a:buClr>
              <a:buFont typeface="Georgia"/>
              <a:buChar char="•"/>
            </a:pPr>
            <a:r>
              <a:rPr sz="1600">
                <a:solidFill>
                  <a:srgbClr val="000000"/>
                </a:solidFill>
                <a:latin typeface="Georgia"/>
              </a:rPr>
              <a:t>Antecedente o dato relevante 1.</a:t>
            </a:r>
          </a:p>
          <a:p>
            <a:pPr algn="l" marL="285750" indent="-285750">
              <a:lnSpc>
                <a:spcPct val="115000"/>
              </a:lnSpc>
              <a:spcAft>
                <a:spcPts val="800"/>
              </a:spcAft>
              <a:buClr>
                <a:srgbClr val="F19651"/>
              </a:buClr>
              <a:buFont typeface="Georgia"/>
              <a:buChar char="•"/>
            </a:pPr>
            <a:r>
              <a:rPr sz="1600">
                <a:solidFill>
                  <a:srgbClr val="000000"/>
                </a:solidFill>
                <a:latin typeface="Georgia"/>
              </a:rPr>
              <a:t>Antecedente o dato relevante 2.</a:t>
            </a:r>
          </a:p>
          <a:p>
            <a:pPr algn="l" marL="285750" indent="-285750">
              <a:lnSpc>
                <a:spcPct val="115000"/>
              </a:lnSpc>
              <a:spcAft>
                <a:spcPts val="800"/>
              </a:spcAft>
              <a:buClr>
                <a:srgbClr val="F19651"/>
              </a:buClr>
              <a:buFont typeface="Georgia"/>
              <a:buChar char="•"/>
            </a:pPr>
            <a:r>
              <a:rPr sz="1600">
                <a:solidFill>
                  <a:srgbClr val="000000"/>
                </a:solidFill>
                <a:latin typeface="Georgia"/>
              </a:rPr>
              <a:t>Vacío de conocimiento que motiva este trabajo.</a:t>
            </a:r>
          </a:p>
          <a:p>
            <a:pPr algn="l" marL="285750" indent="-285750">
              <a:lnSpc>
                <a:spcPct val="115000"/>
              </a:lnSpc>
              <a:spcAft>
                <a:spcPts val="800"/>
              </a:spcAft>
              <a:buClr>
                <a:srgbClr val="F19651"/>
              </a:buClr>
              <a:buFont typeface="Georgia"/>
              <a:buChar char="•"/>
            </a:pPr>
            <a:r>
              <a:rPr sz="1600">
                <a:solidFill>
                  <a:srgbClr val="000000"/>
                </a:solidFill>
                <a:latin typeface="Georgia"/>
              </a:rPr>
              <a:t>Duis aute irure dolor in reprehenderit in voluptate velit esse cillum dolore eu fugiat nulla pariatur.</a:t>
            </a:r>
          </a:p>
        </p:txBody>
      </p:sp>
      <p:sp>
        <p:nvSpPr>
          <p:cNvPr id="13" name="Round Diagonal Corner Rectangle 12"/>
          <p:cNvSpPr/>
          <p:nvPr/>
        </p:nvSpPr>
        <p:spPr>
          <a:xfrm>
            <a:off x="540000" y="17280000"/>
            <a:ext cx="14148000" cy="4140000"/>
          </a:xfrm>
          <a:prstGeom prst="round2DiagRect">
            <a:avLst>
              <a:gd name="adj1" fmla="val 6086"/>
              <a:gd name="adj2" fmla="val 6086"/>
            </a:avLst>
          </a:prstGeom>
          <a:solidFill>
            <a:srgbClr val="FFFFFF"/>
          </a:solidFill>
          <a:ln w="25400">
            <a:solidFill>
              <a:srgbClr val="F7C5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4000" y="17784000"/>
            <a:ext cx="13140000" cy="720000"/>
          </a:xfrm>
          <a:prstGeom prst="rect">
            <a:avLst/>
          </a:prstGeom>
          <a:noFill/>
        </p:spPr>
        <p:txBody>
          <a:bodyPr wrap="square">
            <a:spAutoFit/>
          </a:bodyPr>
          <a:lstStyle/>
          <a:p>
            <a:pPr algn="l">
              <a:lnSpc>
                <a:spcPct val="115000"/>
              </a:lnSpc>
            </a:pPr>
            <a:r>
              <a:rPr sz="2800" b="1" i="0">
                <a:solidFill>
                  <a:srgbClr val="1C6EA8"/>
                </a:solidFill>
                <a:latin typeface="Arial"/>
              </a:rPr>
              <a:t>Objetivos</a:t>
            </a:r>
          </a:p>
        </p:txBody>
      </p:sp>
      <p:sp>
        <p:nvSpPr>
          <p:cNvPr id="15" name="TextBox 14"/>
          <p:cNvSpPr txBox="1"/>
          <p:nvPr/>
        </p:nvSpPr>
        <p:spPr>
          <a:xfrm>
            <a:off x="1044000" y="18720000"/>
            <a:ext cx="13140000" cy="2196000"/>
          </a:xfrm>
          <a:prstGeom prst="rect">
            <a:avLst/>
          </a:prstGeom>
          <a:noFill/>
        </p:spPr>
        <p:txBody>
          <a:bodyPr wrap="square">
            <a:spAutoFit/>
          </a:bodyPr>
          <a:lstStyle/>
          <a:p>
            <a:pPr algn="l" marL="285750" indent="-285750">
              <a:lnSpc>
                <a:spcPct val="115000"/>
              </a:lnSpc>
              <a:spcAft>
                <a:spcPts val="800"/>
              </a:spcAft>
              <a:buClr>
                <a:srgbClr val="F19651"/>
              </a:buClr>
              <a:buFont typeface="Georgia"/>
              <a:buChar char="•"/>
            </a:pPr>
            <a:r>
              <a:rPr sz="1600">
                <a:solidFill>
                  <a:srgbClr val="000000"/>
                </a:solidFill>
                <a:latin typeface="Georgia"/>
              </a:rPr>
              <a:t>Objetivo general del trabajo.</a:t>
            </a:r>
          </a:p>
          <a:p>
            <a:pPr algn="l" marL="285750" indent="-285750">
              <a:lnSpc>
                <a:spcPct val="115000"/>
              </a:lnSpc>
              <a:spcAft>
                <a:spcPts val="800"/>
              </a:spcAft>
              <a:buClr>
                <a:srgbClr val="F19651"/>
              </a:buClr>
              <a:buFont typeface="Georgia"/>
              <a:buChar char="•"/>
            </a:pPr>
            <a:r>
              <a:rPr sz="1600">
                <a:solidFill>
                  <a:srgbClr val="000000"/>
                </a:solidFill>
                <a:latin typeface="Georgia"/>
              </a:rPr>
              <a:t>Objetivo específico 1.</a:t>
            </a:r>
          </a:p>
          <a:p>
            <a:pPr algn="l" marL="285750" indent="-285750">
              <a:lnSpc>
                <a:spcPct val="115000"/>
              </a:lnSpc>
              <a:spcAft>
                <a:spcPts val="800"/>
              </a:spcAft>
              <a:buClr>
                <a:srgbClr val="F19651"/>
              </a:buClr>
              <a:buFont typeface="Georgia"/>
              <a:buChar char="•"/>
            </a:pPr>
            <a:r>
              <a:rPr sz="1600">
                <a:solidFill>
                  <a:srgbClr val="000000"/>
                </a:solidFill>
                <a:latin typeface="Georgia"/>
              </a:rPr>
              <a:t>Objetivo específico 2.</a:t>
            </a:r>
          </a:p>
        </p:txBody>
      </p:sp>
      <p:sp>
        <p:nvSpPr>
          <p:cNvPr id="16" name="Round Diagonal Corner Rectangle 15"/>
          <p:cNvSpPr/>
          <p:nvPr/>
        </p:nvSpPr>
        <p:spPr>
          <a:xfrm>
            <a:off x="540000" y="22140000"/>
            <a:ext cx="14148000" cy="14400000"/>
          </a:xfrm>
          <a:prstGeom prst="round2DiagRect">
            <a:avLst>
              <a:gd name="adj1" fmla="val 1781"/>
              <a:gd name="adj2" fmla="val 1781"/>
            </a:avLst>
          </a:prstGeom>
          <a:solidFill>
            <a:srgbClr val="FFFFFF"/>
          </a:solidFill>
          <a:ln w="25400">
            <a:solidFill>
              <a:srgbClr val="F7C5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4000" y="22644000"/>
            <a:ext cx="13140000" cy="720000"/>
          </a:xfrm>
          <a:prstGeom prst="rect">
            <a:avLst/>
          </a:prstGeom>
          <a:noFill/>
        </p:spPr>
        <p:txBody>
          <a:bodyPr wrap="square">
            <a:spAutoFit/>
          </a:bodyPr>
          <a:lstStyle/>
          <a:p>
            <a:pPr algn="l">
              <a:lnSpc>
                <a:spcPct val="115000"/>
              </a:lnSpc>
            </a:pPr>
            <a:r>
              <a:rPr sz="2800" b="1" i="0">
                <a:solidFill>
                  <a:srgbClr val="1C6EA8"/>
                </a:solidFill>
                <a:latin typeface="Arial"/>
              </a:rPr>
              <a:t>Metodología</a:t>
            </a:r>
          </a:p>
        </p:txBody>
      </p:sp>
      <p:sp>
        <p:nvSpPr>
          <p:cNvPr id="18" name="TextBox 17"/>
          <p:cNvSpPr txBox="1"/>
          <p:nvPr/>
        </p:nvSpPr>
        <p:spPr>
          <a:xfrm>
            <a:off x="1044000" y="23580000"/>
            <a:ext cx="13140000" cy="1008000"/>
          </a:xfrm>
          <a:prstGeom prst="rect">
            <a:avLst/>
          </a:prstGeom>
          <a:noFill/>
        </p:spPr>
        <p:txBody>
          <a:bodyPr wrap="square">
            <a:spAutoFit/>
          </a:bodyPr>
          <a:lstStyle/>
          <a:p>
            <a:pPr algn="l">
              <a:lnSpc>
                <a:spcPct val="115000"/>
              </a:lnSpc>
            </a:pPr>
            <a:r>
              <a:rPr sz="1600" b="0" i="0">
                <a:solidFill>
                  <a:srgbClr val="000000"/>
                </a:solidFill>
                <a:latin typeface="Georgia"/>
              </a:rPr>
              <a:t>Describa el enfoque, modelo matemático, datos y/o algoritmos utilizados.</a:t>
            </a:r>
          </a:p>
        </p:txBody>
      </p:sp>
      <p:sp>
        <p:nvSpPr>
          <p:cNvPr id="19" name="TextBox 18"/>
          <p:cNvSpPr txBox="1"/>
          <p:nvPr/>
        </p:nvSpPr>
        <p:spPr>
          <a:xfrm>
            <a:off x="1044000" y="24660000"/>
            <a:ext cx="13140000" cy="1620000"/>
          </a:xfrm>
          <a:prstGeom prst="rect">
            <a:avLst/>
          </a:prstGeom>
          <a:noFill/>
        </p:spPr>
        <p:txBody>
          <a:bodyPr wrap="square">
            <a:spAutoFit/>
          </a:bodyPr>
          <a:lstStyle/>
          <a:p>
            <a:pPr algn="l">
              <a:lnSpc>
                <a:spcPct val="115000"/>
              </a:lnSpc>
            </a:pPr>
            <a:r>
              <a:rPr sz="1600" b="0" i="0">
                <a:solidFill>
                  <a:srgbClr val="000000"/>
                </a:solidFill>
                <a:latin typeface="Georgia"/>
              </a:rPr>
              <a:t>Sed ut perspiciatis unde omnis iste natus error sit voluptatem accusantium doloremque laudantium. Totam rem aperiam, eaque ipsa quae ab illo inventore veritatis et quasi architecto beatae vitae dicta sunt explicabo.</a:t>
            </a:r>
          </a:p>
        </p:txBody>
      </p:sp>
      <p:sp>
        <p:nvSpPr>
          <p:cNvPr id="20" name="TextBox 19"/>
          <p:cNvSpPr txBox="1"/>
          <p:nvPr/>
        </p:nvSpPr>
        <p:spPr>
          <a:xfrm>
            <a:off x="1044000" y="26388000"/>
            <a:ext cx="13140000" cy="2160000"/>
          </a:xfrm>
          <a:prstGeom prst="rect">
            <a:avLst/>
          </a:prstGeom>
          <a:noFill/>
        </p:spPr>
        <p:txBody>
          <a:bodyPr wrap="square">
            <a:spAutoFit/>
          </a:bodyPr>
          <a:lstStyle/>
          <a:p>
            <a:pPr algn="l" marL="285750" indent="-285750">
              <a:lnSpc>
                <a:spcPct val="115000"/>
              </a:lnSpc>
              <a:spcAft>
                <a:spcPts val="800"/>
              </a:spcAft>
              <a:buClr>
                <a:srgbClr val="F19651"/>
              </a:buClr>
              <a:buFont typeface="Georgia"/>
              <a:buChar char="•"/>
            </a:pPr>
            <a:r>
              <a:rPr sz="1600">
                <a:solidFill>
                  <a:srgbClr val="000000"/>
                </a:solidFill>
                <a:latin typeface="Georgia"/>
              </a:rPr>
              <a:t>Diseño del estudio / modelo propuesto.</a:t>
            </a:r>
          </a:p>
          <a:p>
            <a:pPr algn="l" marL="285750" indent="-285750">
              <a:lnSpc>
                <a:spcPct val="115000"/>
              </a:lnSpc>
              <a:spcAft>
                <a:spcPts val="800"/>
              </a:spcAft>
              <a:buClr>
                <a:srgbClr val="F19651"/>
              </a:buClr>
              <a:buFont typeface="Georgia"/>
              <a:buChar char="•"/>
            </a:pPr>
            <a:r>
              <a:rPr sz="1600">
                <a:solidFill>
                  <a:srgbClr val="000000"/>
                </a:solidFill>
                <a:latin typeface="Georgia"/>
              </a:rPr>
              <a:t>Fuentes de datos o parámetros.</a:t>
            </a:r>
          </a:p>
          <a:p>
            <a:pPr algn="l" marL="285750" indent="-285750">
              <a:lnSpc>
                <a:spcPct val="115000"/>
              </a:lnSpc>
              <a:spcAft>
                <a:spcPts val="800"/>
              </a:spcAft>
              <a:buClr>
                <a:srgbClr val="F19651"/>
              </a:buClr>
              <a:buFont typeface="Georgia"/>
              <a:buChar char="•"/>
            </a:pPr>
            <a:r>
              <a:rPr sz="1600">
                <a:solidFill>
                  <a:srgbClr val="000000"/>
                </a:solidFill>
                <a:latin typeface="Georgia"/>
              </a:rPr>
              <a:t>Herramientas y métodos de análisis.</a:t>
            </a:r>
          </a:p>
          <a:p>
            <a:pPr algn="l" marL="285750" indent="-285750">
              <a:lnSpc>
                <a:spcPct val="115000"/>
              </a:lnSpc>
              <a:spcAft>
                <a:spcPts val="800"/>
              </a:spcAft>
              <a:buClr>
                <a:srgbClr val="F19651"/>
              </a:buClr>
              <a:buFont typeface="Georgia"/>
              <a:buChar char="•"/>
            </a:pPr>
            <a:r>
              <a:rPr sz="1600">
                <a:solidFill>
                  <a:srgbClr val="000000"/>
                </a:solidFill>
                <a:latin typeface="Georgia"/>
              </a:rPr>
              <a:t>Nemo enim ipsam voluptatem quia voluptas sit aspernatur aut odit aut fugit.</a:t>
            </a:r>
          </a:p>
        </p:txBody>
      </p:sp>
      <p:pic>
        <p:nvPicPr>
          <p:cNvPr id="21" name="Picture 20" descr="equation_sir.png"/>
          <p:cNvPicPr>
            <a:picLocks noChangeAspect="1"/>
          </p:cNvPicPr>
          <p:nvPr/>
        </p:nvPicPr>
        <p:blipFill>
          <a:blip r:embed="rId4"/>
          <a:stretch>
            <a:fillRect/>
          </a:stretch>
        </p:blipFill>
        <p:spPr>
          <a:xfrm>
            <a:off x="3474000" y="28620000"/>
            <a:ext cx="8280000" cy="3000122"/>
          </a:xfrm>
          <a:prstGeom prst="rect">
            <a:avLst/>
          </a:prstGeom>
        </p:spPr>
      </p:pic>
      <p:sp>
        <p:nvSpPr>
          <p:cNvPr id="22" name="TextBox 21"/>
          <p:cNvSpPr txBox="1"/>
          <p:nvPr/>
        </p:nvSpPr>
        <p:spPr>
          <a:xfrm>
            <a:off x="1044000" y="31764122"/>
            <a:ext cx="13140000" cy="504000"/>
          </a:xfrm>
          <a:prstGeom prst="rect">
            <a:avLst/>
          </a:prstGeom>
          <a:noFill/>
        </p:spPr>
        <p:txBody>
          <a:bodyPr wrap="square">
            <a:spAutoFit/>
          </a:bodyPr>
          <a:lstStyle/>
          <a:p>
            <a:pPr algn="ctr"/>
            <a:r>
              <a:rPr b="1" sz="1500">
                <a:solidFill>
                  <a:srgbClr val="F19651"/>
                </a:solidFill>
                <a:latin typeface="Georgia"/>
              </a:rPr>
              <a:t>Ejemplo: </a:t>
            </a:r>
            <a:r>
              <a:rPr b="1" sz="1500">
                <a:solidFill>
                  <a:srgbClr val="000000"/>
                </a:solidFill>
                <a:latin typeface="Georgia"/>
              </a:rPr>
              <a:t>modelo SIR de dinámica epidémica</a:t>
            </a:r>
          </a:p>
        </p:txBody>
      </p:sp>
      <p:sp>
        <p:nvSpPr>
          <p:cNvPr id="23" name="Round Diagonal Corner Rectangle 22"/>
          <p:cNvSpPr/>
          <p:nvPr/>
        </p:nvSpPr>
        <p:spPr>
          <a:xfrm>
            <a:off x="15588000" y="8820000"/>
            <a:ext cx="14148000" cy="15120000"/>
          </a:xfrm>
          <a:prstGeom prst="round2DiagRect">
            <a:avLst>
              <a:gd name="adj1" fmla="val 1781"/>
              <a:gd name="adj2" fmla="val 1781"/>
            </a:avLst>
          </a:prstGeom>
          <a:solidFill>
            <a:srgbClr val="FFFFFF"/>
          </a:solidFill>
          <a:ln w="25400">
            <a:solidFill>
              <a:srgbClr val="F7C5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092000" y="9324000"/>
            <a:ext cx="13140000" cy="720000"/>
          </a:xfrm>
          <a:prstGeom prst="rect">
            <a:avLst/>
          </a:prstGeom>
          <a:noFill/>
        </p:spPr>
        <p:txBody>
          <a:bodyPr wrap="square">
            <a:spAutoFit/>
          </a:bodyPr>
          <a:lstStyle/>
          <a:p>
            <a:pPr algn="l">
              <a:lnSpc>
                <a:spcPct val="115000"/>
              </a:lnSpc>
            </a:pPr>
            <a:r>
              <a:rPr sz="2800" b="1" i="0">
                <a:solidFill>
                  <a:srgbClr val="1C6EA8"/>
                </a:solidFill>
                <a:latin typeface="Arial"/>
              </a:rPr>
              <a:t>Resultados</a:t>
            </a:r>
          </a:p>
        </p:txBody>
      </p:sp>
      <p:sp>
        <p:nvSpPr>
          <p:cNvPr id="25" name="TextBox 24"/>
          <p:cNvSpPr txBox="1"/>
          <p:nvPr/>
        </p:nvSpPr>
        <p:spPr>
          <a:xfrm>
            <a:off x="16092000" y="10260000"/>
            <a:ext cx="13140000" cy="1080000"/>
          </a:xfrm>
          <a:prstGeom prst="rect">
            <a:avLst/>
          </a:prstGeom>
          <a:noFill/>
        </p:spPr>
        <p:txBody>
          <a:bodyPr wrap="square">
            <a:spAutoFit/>
          </a:bodyPr>
          <a:lstStyle/>
          <a:p>
            <a:pPr algn="l">
              <a:lnSpc>
                <a:spcPct val="115000"/>
              </a:lnSpc>
            </a:pPr>
            <a:r>
              <a:rPr sz="1600" b="0" i="0">
                <a:solidFill>
                  <a:srgbClr val="000000"/>
                </a:solidFill>
                <a:latin typeface="Georgia"/>
              </a:rPr>
              <a:t>Presente los resultados principales, apoyados en figuras y/o tablas.</a:t>
            </a:r>
          </a:p>
        </p:txBody>
      </p:sp>
      <p:sp>
        <p:nvSpPr>
          <p:cNvPr id="26" name="TextBox 25"/>
          <p:cNvSpPr txBox="1"/>
          <p:nvPr/>
        </p:nvSpPr>
        <p:spPr>
          <a:xfrm>
            <a:off x="16092000" y="11412000"/>
            <a:ext cx="13140000" cy="1620000"/>
          </a:xfrm>
          <a:prstGeom prst="rect">
            <a:avLst/>
          </a:prstGeom>
          <a:noFill/>
        </p:spPr>
        <p:txBody>
          <a:bodyPr wrap="square">
            <a:spAutoFit/>
          </a:bodyPr>
          <a:lstStyle/>
          <a:p>
            <a:pPr algn="l">
              <a:lnSpc>
                <a:spcPct val="115000"/>
              </a:lnSpc>
            </a:pPr>
            <a:r>
              <a:rPr sz="1600" b="0" i="0">
                <a:solidFill>
                  <a:srgbClr val="000000"/>
                </a:solidFill>
                <a:latin typeface="Georgia"/>
              </a:rPr>
              <a:t>Totam rem aperiam, eaque ipsa quae ab illo inventore veritatis et quasi architecto beatae vitae dicta sunt explicabo. Nemo enim ipsam voluptatem quia voluptas sit aspernatur aut odit aut fugit.</a:t>
            </a:r>
          </a:p>
        </p:txBody>
      </p:sp>
      <p:sp>
        <p:nvSpPr>
          <p:cNvPr id="27" name="Round Diagonal Corner Rectangle 26"/>
          <p:cNvSpPr/>
          <p:nvPr/>
        </p:nvSpPr>
        <p:spPr>
          <a:xfrm>
            <a:off x="16092000" y="13212000"/>
            <a:ext cx="13140000" cy="5400000"/>
          </a:xfrm>
          <a:prstGeom prst="round2DiagRect">
            <a:avLst>
              <a:gd name="adj1" fmla="val 4666"/>
              <a:gd name="adj2" fmla="val 4666"/>
            </a:avLst>
          </a:prstGeom>
          <a:solidFill>
            <a:srgbClr val="F4F8FB"/>
          </a:solidFill>
          <a:ln w="15875">
            <a:solidFill>
              <a:srgbClr val="1C6E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1C6EA8"/>
                </a:solidFill>
                <a:latin typeface="Georgia"/>
              </a:rPr>
              <a:t>Espacio para figura principal
(gráfico, mapa, simulación, etc.)</a:t>
            </a:r>
          </a:p>
        </p:txBody>
      </p:sp>
      <p:sp>
        <p:nvSpPr>
          <p:cNvPr id="28" name="TextBox 27"/>
          <p:cNvSpPr txBox="1"/>
          <p:nvPr/>
        </p:nvSpPr>
        <p:spPr>
          <a:xfrm>
            <a:off x="16092000" y="18756000"/>
            <a:ext cx="13140000" cy="504000"/>
          </a:xfrm>
          <a:prstGeom prst="rect">
            <a:avLst/>
          </a:prstGeom>
          <a:noFill/>
        </p:spPr>
        <p:txBody>
          <a:bodyPr wrap="square">
            <a:spAutoFit/>
          </a:bodyPr>
          <a:lstStyle/>
          <a:p>
            <a:pPr algn="ctr"/>
            <a:r>
              <a:rPr b="1" sz="1500">
                <a:solidFill>
                  <a:srgbClr val="F19651"/>
                </a:solidFill>
                <a:latin typeface="Georgia"/>
              </a:rPr>
              <a:t>Figura: </a:t>
            </a:r>
            <a:r>
              <a:rPr b="1" sz="1500">
                <a:solidFill>
                  <a:srgbClr val="000000"/>
                </a:solidFill>
                <a:latin typeface="Georgia"/>
              </a:rPr>
              <a:t>Descripción breve del resultado.</a:t>
            </a:r>
          </a:p>
        </p:txBody>
      </p:sp>
      <p:sp>
        <p:nvSpPr>
          <p:cNvPr id="29" name="TextBox 28"/>
          <p:cNvSpPr txBox="1"/>
          <p:nvPr/>
        </p:nvSpPr>
        <p:spPr>
          <a:xfrm>
            <a:off x="16092000" y="19476000"/>
            <a:ext cx="13140000" cy="504000"/>
          </a:xfrm>
          <a:prstGeom prst="rect">
            <a:avLst/>
          </a:prstGeom>
          <a:noFill/>
        </p:spPr>
        <p:txBody>
          <a:bodyPr wrap="square">
            <a:spAutoFit/>
          </a:bodyPr>
          <a:lstStyle/>
          <a:p>
            <a:pPr algn="ctr"/>
            <a:r>
              <a:rPr b="1" sz="1500">
                <a:solidFill>
                  <a:srgbClr val="F19651"/>
                </a:solidFill>
                <a:latin typeface="Georgia"/>
              </a:rPr>
              <a:t>Tabla: </a:t>
            </a:r>
            <a:r>
              <a:rPr b="1" sz="1500">
                <a:solidFill>
                  <a:srgbClr val="000000"/>
                </a:solidFill>
                <a:latin typeface="Georgia"/>
              </a:rPr>
              <a:t>Descripción breve de la tabla.</a:t>
            </a:r>
          </a:p>
        </p:txBody>
      </p:sp>
      <p:graphicFrame>
        <p:nvGraphicFramePr>
          <p:cNvPr id="30" name="Table 29"/>
          <p:cNvGraphicFramePr>
            <a:graphicFrameLocks noGrp="1"/>
          </p:cNvGraphicFramePr>
          <p:nvPr/>
        </p:nvGraphicFramePr>
        <p:xfrm>
          <a:off x="16092000" y="20052000"/>
          <a:ext cx="13140000" cy="2016000"/>
        </p:xfrm>
        <a:graphic>
          <a:graphicData uri="http://schemas.openxmlformats.org/drawingml/2006/table">
            <a:tbl>
              <a:tblPr firstRow="1" bandRow="1">
                <a:tableStyleId>{5C22544A-7EE6-4342-B048-85BDC9FD1C3A}</a:tableStyleId>
              </a:tblPr>
              <a:tblGrid>
                <a:gridCol w="3285000"/>
                <a:gridCol w="3285000"/>
                <a:gridCol w="3285000"/>
                <a:gridCol w="3285000"/>
              </a:tblGrid>
              <a:tr h="504000">
                <a:tc>
                  <a:txBody>
                    <a:bodyPr/>
                    <a:lstStyle/>
                    <a:p>
                      <a:pPr algn="l"/>
                      <a:r>
                        <a:rPr sz="1400" b="1">
                          <a:latin typeface="Georgia"/>
                        </a:rPr>
                        <a:t>Parámetro</a:t>
                      </a:r>
                    </a:p>
                  </a:txBody>
                  <a:tcPr anchor="ctr" marL="108000" marR="108000" marT="36000" marB="36000">
                    <a:solidFill>
                      <a:srgbClr val="EDF3F8"/>
                    </a:solidFill>
                  </a:tcPr>
                </a:tc>
                <a:tc>
                  <a:txBody>
                    <a:bodyPr/>
                    <a:lstStyle/>
                    <a:p>
                      <a:pPr algn="ctr"/>
                      <a:r>
                        <a:rPr sz="1400" b="1">
                          <a:latin typeface="Georgia"/>
                        </a:rPr>
                        <a:t>Valor</a:t>
                      </a:r>
                    </a:p>
                  </a:txBody>
                  <a:tcPr anchor="ctr" marL="108000" marR="108000" marT="36000" marB="36000">
                    <a:solidFill>
                      <a:srgbClr val="EDF3F8"/>
                    </a:solidFill>
                  </a:tcPr>
                </a:tc>
                <a:tc>
                  <a:txBody>
                    <a:bodyPr/>
                    <a:lstStyle/>
                    <a:p>
                      <a:pPr algn="ctr"/>
                      <a:r>
                        <a:rPr sz="1400" b="1">
                          <a:latin typeface="Georgia"/>
                        </a:rPr>
                        <a:t>IC 95%</a:t>
                      </a:r>
                    </a:p>
                  </a:txBody>
                  <a:tcPr anchor="ctr" marL="108000" marR="108000" marT="36000" marB="36000">
                    <a:solidFill>
                      <a:srgbClr val="EDF3F8"/>
                    </a:solidFill>
                  </a:tcPr>
                </a:tc>
                <a:tc>
                  <a:txBody>
                    <a:bodyPr/>
                    <a:lstStyle/>
                    <a:p>
                      <a:pPr algn="ctr"/>
                      <a:r>
                        <a:rPr sz="1400" b="1">
                          <a:latin typeface="Georgia"/>
                        </a:rPr>
                        <a:t>p</a:t>
                      </a:r>
                    </a:p>
                  </a:txBody>
                  <a:tcPr anchor="ctr" marL="108000" marR="108000" marT="36000" marB="36000">
                    <a:solidFill>
                      <a:srgbClr val="EDF3F8"/>
                    </a:solidFill>
                  </a:tcPr>
                </a:tc>
              </a:tr>
              <a:tr h="504000">
                <a:tc>
                  <a:txBody>
                    <a:bodyPr/>
                    <a:lstStyle/>
                    <a:p>
                      <a:pPr algn="l"/>
                      <a:r>
                        <a:rPr sz="1400" b="0">
                          <a:latin typeface="Georgia"/>
                        </a:rPr>
                        <a:t>Parámetro 1</a:t>
                      </a:r>
                    </a:p>
                  </a:txBody>
                  <a:tcPr anchor="ctr" marL="108000" marR="108000" marT="36000" marB="36000">
                    <a:solidFill>
                      <a:srgbClr val="FFFFFF"/>
                    </a:solidFill>
                  </a:tcPr>
                </a:tc>
                <a:tc>
                  <a:txBody>
                    <a:bodyPr/>
                    <a:lstStyle/>
                    <a:p>
                      <a:pPr algn="ctr"/>
                      <a:r>
                        <a:rPr sz="1400" b="0">
                          <a:latin typeface="Georgia"/>
                        </a:rPr>
                        <a:t>3.14</a:t>
                      </a:r>
                    </a:p>
                  </a:txBody>
                  <a:tcPr anchor="ctr" marL="108000" marR="108000" marT="36000" marB="36000">
                    <a:solidFill>
                      <a:srgbClr val="FFFFFF"/>
                    </a:solidFill>
                  </a:tcPr>
                </a:tc>
                <a:tc>
                  <a:txBody>
                    <a:bodyPr/>
                    <a:lstStyle/>
                    <a:p>
                      <a:pPr algn="ctr"/>
                      <a:r>
                        <a:rPr sz="1400" b="0">
                          <a:latin typeface="Georgia"/>
                        </a:rPr>
                        <a:t>(3.10, 3.18)</a:t>
                      </a:r>
                    </a:p>
                  </a:txBody>
                  <a:tcPr anchor="ctr" marL="108000" marR="108000" marT="36000" marB="36000">
                    <a:solidFill>
                      <a:srgbClr val="FFFFFF"/>
                    </a:solidFill>
                  </a:tcPr>
                </a:tc>
                <a:tc>
                  <a:txBody>
                    <a:bodyPr/>
                    <a:lstStyle/>
                    <a:p>
                      <a:pPr algn="ctr"/>
                      <a:r>
                        <a:rPr sz="1400" b="0">
                          <a:latin typeface="Georgia"/>
                        </a:rPr>
                        <a:t>0.001</a:t>
                      </a:r>
                    </a:p>
                  </a:txBody>
                  <a:tcPr anchor="ctr" marL="108000" marR="108000" marT="36000" marB="36000">
                    <a:solidFill>
                      <a:srgbClr val="FFFFFF"/>
                    </a:solidFill>
                  </a:tcPr>
                </a:tc>
              </a:tr>
              <a:tr h="504000">
                <a:tc>
                  <a:txBody>
                    <a:bodyPr/>
                    <a:lstStyle/>
                    <a:p>
                      <a:pPr algn="l"/>
                      <a:r>
                        <a:rPr sz="1400" b="0">
                          <a:latin typeface="Georgia"/>
                        </a:rPr>
                        <a:t>Parámetro 2</a:t>
                      </a:r>
                    </a:p>
                  </a:txBody>
                  <a:tcPr anchor="ctr" marL="108000" marR="108000" marT="36000" marB="36000">
                    <a:solidFill>
                      <a:srgbClr val="FFFFFF"/>
                    </a:solidFill>
                  </a:tcPr>
                </a:tc>
                <a:tc>
                  <a:txBody>
                    <a:bodyPr/>
                    <a:lstStyle/>
                    <a:p>
                      <a:pPr algn="ctr"/>
                      <a:r>
                        <a:rPr sz="1400" b="0">
                          <a:latin typeface="Georgia"/>
                        </a:rPr>
                        <a:t>2.72</a:t>
                      </a:r>
                    </a:p>
                  </a:txBody>
                  <a:tcPr anchor="ctr" marL="108000" marR="108000" marT="36000" marB="36000">
                    <a:solidFill>
                      <a:srgbClr val="FFFFFF"/>
                    </a:solidFill>
                  </a:tcPr>
                </a:tc>
                <a:tc>
                  <a:txBody>
                    <a:bodyPr/>
                    <a:lstStyle/>
                    <a:p>
                      <a:pPr algn="ctr"/>
                      <a:r>
                        <a:rPr sz="1400" b="0">
                          <a:latin typeface="Georgia"/>
                        </a:rPr>
                        <a:t>(2.68, 2.76)</a:t>
                      </a:r>
                    </a:p>
                  </a:txBody>
                  <a:tcPr anchor="ctr" marL="108000" marR="108000" marT="36000" marB="36000">
                    <a:solidFill>
                      <a:srgbClr val="FFFFFF"/>
                    </a:solidFill>
                  </a:tcPr>
                </a:tc>
                <a:tc>
                  <a:txBody>
                    <a:bodyPr/>
                    <a:lstStyle/>
                    <a:p>
                      <a:pPr algn="ctr"/>
                      <a:r>
                        <a:rPr sz="1400" b="0">
                          <a:latin typeface="Georgia"/>
                        </a:rPr>
                        <a:t>0.007</a:t>
                      </a:r>
                    </a:p>
                  </a:txBody>
                  <a:tcPr anchor="ctr" marL="108000" marR="108000" marT="36000" marB="36000">
                    <a:solidFill>
                      <a:srgbClr val="FFFFFF"/>
                    </a:solidFill>
                  </a:tcPr>
                </a:tc>
              </a:tr>
              <a:tr h="504000">
                <a:tc>
                  <a:txBody>
                    <a:bodyPr/>
                    <a:lstStyle/>
                    <a:p>
                      <a:pPr algn="l"/>
                      <a:r>
                        <a:rPr sz="1400" b="0">
                          <a:latin typeface="Georgia"/>
                        </a:rPr>
                        <a:t>Parámetro 3</a:t>
                      </a:r>
                    </a:p>
                  </a:txBody>
                  <a:tcPr anchor="ctr" marL="108000" marR="108000" marT="36000" marB="36000">
                    <a:solidFill>
                      <a:srgbClr val="FFFFFF"/>
                    </a:solidFill>
                  </a:tcPr>
                </a:tc>
                <a:tc>
                  <a:txBody>
                    <a:bodyPr/>
                    <a:lstStyle/>
                    <a:p>
                      <a:pPr algn="ctr"/>
                      <a:r>
                        <a:rPr sz="1400" b="0">
                          <a:latin typeface="Georgia"/>
                        </a:rPr>
                        <a:t>1.62</a:t>
                      </a:r>
                    </a:p>
                  </a:txBody>
                  <a:tcPr anchor="ctr" marL="108000" marR="108000" marT="36000" marB="36000">
                    <a:solidFill>
                      <a:srgbClr val="FFFFFF"/>
                    </a:solidFill>
                  </a:tcPr>
                </a:tc>
                <a:tc>
                  <a:txBody>
                    <a:bodyPr/>
                    <a:lstStyle/>
                    <a:p>
                      <a:pPr algn="ctr"/>
                      <a:r>
                        <a:rPr sz="1400" b="0">
                          <a:latin typeface="Georgia"/>
                        </a:rPr>
                        <a:t>(1.58, 1.66)</a:t>
                      </a:r>
                    </a:p>
                  </a:txBody>
                  <a:tcPr anchor="ctr" marL="108000" marR="108000" marT="36000" marB="36000">
                    <a:solidFill>
                      <a:srgbClr val="FFFFFF"/>
                    </a:solidFill>
                  </a:tcPr>
                </a:tc>
                <a:tc>
                  <a:txBody>
                    <a:bodyPr/>
                    <a:lstStyle/>
                    <a:p>
                      <a:pPr algn="ctr"/>
                      <a:r>
                        <a:rPr sz="1400" b="0">
                          <a:latin typeface="Georgia"/>
                        </a:rPr>
                        <a:t>0.042</a:t>
                      </a:r>
                    </a:p>
                  </a:txBody>
                  <a:tcPr anchor="ctr" marL="108000" marR="108000" marT="36000" marB="36000">
                    <a:solidFill>
                      <a:srgbClr val="FFFFFF"/>
                    </a:solidFill>
                  </a:tcPr>
                </a:tc>
              </a:tr>
            </a:tbl>
          </a:graphicData>
        </a:graphic>
      </p:graphicFrame>
      <p:sp>
        <p:nvSpPr>
          <p:cNvPr id="31" name="TextBox 30"/>
          <p:cNvSpPr txBox="1"/>
          <p:nvPr/>
        </p:nvSpPr>
        <p:spPr>
          <a:xfrm>
            <a:off x="16092000" y="22428000"/>
            <a:ext cx="13140000" cy="1008000"/>
          </a:xfrm>
          <a:prstGeom prst="rect">
            <a:avLst/>
          </a:prstGeom>
          <a:noFill/>
        </p:spPr>
        <p:txBody>
          <a:bodyPr wrap="square">
            <a:spAutoFit/>
          </a:bodyPr>
          <a:lstStyle/>
          <a:p>
            <a:pPr algn="l" marL="285750" indent="-285750">
              <a:lnSpc>
                <a:spcPct val="115000"/>
              </a:lnSpc>
              <a:spcAft>
                <a:spcPts val="800"/>
              </a:spcAft>
              <a:buClr>
                <a:srgbClr val="F19651"/>
              </a:buClr>
              <a:buFont typeface="Georgia"/>
              <a:buChar char="•"/>
            </a:pPr>
            <a:r>
              <a:rPr sz="1600">
                <a:solidFill>
                  <a:srgbClr val="000000"/>
                </a:solidFill>
                <a:latin typeface="Georgia"/>
              </a:rPr>
              <a:t>Sed ut perspiciatis unde omnis iste natus error sit voluptatem accusantium doloremque laudantium.</a:t>
            </a:r>
          </a:p>
          <a:p>
            <a:pPr algn="l" marL="285750" indent="-285750">
              <a:lnSpc>
                <a:spcPct val="115000"/>
              </a:lnSpc>
              <a:spcAft>
                <a:spcPts val="800"/>
              </a:spcAft>
              <a:buClr>
                <a:srgbClr val="F19651"/>
              </a:buClr>
              <a:buFont typeface="Georgia"/>
              <a:buChar char="•"/>
            </a:pPr>
            <a:r>
              <a:rPr sz="1600">
                <a:solidFill>
                  <a:srgbClr val="000000"/>
                </a:solidFill>
                <a:latin typeface="Georgia"/>
              </a:rPr>
              <a:t>Nemo enim ipsam voluptatem quia voluptas sit aspernatur aut odit aut fugit, sed quia consequuntur magni dolores.</a:t>
            </a:r>
          </a:p>
          <a:p>
            <a:pPr algn="l" marL="285750" indent="-285750">
              <a:lnSpc>
                <a:spcPct val="115000"/>
              </a:lnSpc>
              <a:spcAft>
                <a:spcPts val="800"/>
              </a:spcAft>
              <a:buClr>
                <a:srgbClr val="F19651"/>
              </a:buClr>
              <a:buFont typeface="Georgia"/>
              <a:buChar char="•"/>
            </a:pPr>
            <a:r>
              <a:rPr sz="1600">
                <a:solidFill>
                  <a:srgbClr val="000000"/>
                </a:solidFill>
                <a:latin typeface="Georgia"/>
              </a:rPr>
              <a:t>Neque porro quisquam est, qui dolorem ipsum quia dolor sit amet, consectetur, adipisci velit.</a:t>
            </a:r>
          </a:p>
        </p:txBody>
      </p:sp>
      <p:sp>
        <p:nvSpPr>
          <p:cNvPr id="32" name="Round Diagonal Corner Rectangle 31"/>
          <p:cNvSpPr/>
          <p:nvPr/>
        </p:nvSpPr>
        <p:spPr>
          <a:xfrm>
            <a:off x="15588000" y="24660000"/>
            <a:ext cx="14148000" cy="3240000"/>
          </a:xfrm>
          <a:prstGeom prst="round2DiagRect">
            <a:avLst>
              <a:gd name="adj1" fmla="val 7777"/>
              <a:gd name="adj2" fmla="val 7777"/>
            </a:avLst>
          </a:prstGeom>
          <a:solidFill>
            <a:srgbClr val="FFFFFF"/>
          </a:solidFill>
          <a:ln w="25400">
            <a:solidFill>
              <a:srgbClr val="F7C5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092000" y="25164000"/>
            <a:ext cx="13140000" cy="720000"/>
          </a:xfrm>
          <a:prstGeom prst="rect">
            <a:avLst/>
          </a:prstGeom>
          <a:noFill/>
        </p:spPr>
        <p:txBody>
          <a:bodyPr wrap="square">
            <a:spAutoFit/>
          </a:bodyPr>
          <a:lstStyle/>
          <a:p>
            <a:pPr algn="l">
              <a:lnSpc>
                <a:spcPct val="115000"/>
              </a:lnSpc>
            </a:pPr>
            <a:r>
              <a:rPr sz="2800" b="1" i="0">
                <a:solidFill>
                  <a:srgbClr val="1C6EA8"/>
                </a:solidFill>
                <a:latin typeface="Arial"/>
              </a:rPr>
              <a:t>Conclusiones</a:t>
            </a:r>
          </a:p>
        </p:txBody>
      </p:sp>
      <p:sp>
        <p:nvSpPr>
          <p:cNvPr id="34" name="TextBox 33"/>
          <p:cNvSpPr txBox="1"/>
          <p:nvPr/>
        </p:nvSpPr>
        <p:spPr>
          <a:xfrm>
            <a:off x="16092000" y="26100000"/>
            <a:ext cx="13140000" cy="1296000"/>
          </a:xfrm>
          <a:prstGeom prst="rect">
            <a:avLst/>
          </a:prstGeom>
          <a:noFill/>
        </p:spPr>
        <p:txBody>
          <a:bodyPr wrap="square">
            <a:spAutoFit/>
          </a:bodyPr>
          <a:lstStyle/>
          <a:p>
            <a:pPr algn="l" marL="285750" indent="-285750">
              <a:lnSpc>
                <a:spcPct val="115000"/>
              </a:lnSpc>
              <a:spcAft>
                <a:spcPts val="800"/>
              </a:spcAft>
              <a:buClr>
                <a:srgbClr val="F19651"/>
              </a:buClr>
              <a:buFont typeface="Georgia"/>
              <a:buChar char="•"/>
            </a:pPr>
            <a:r>
              <a:rPr sz="1600">
                <a:solidFill>
                  <a:srgbClr val="000000"/>
                </a:solidFill>
                <a:latin typeface="Georgia"/>
              </a:rPr>
              <a:t>Conclusión principal 1.</a:t>
            </a:r>
          </a:p>
          <a:p>
            <a:pPr algn="l" marL="285750" indent="-285750">
              <a:lnSpc>
                <a:spcPct val="115000"/>
              </a:lnSpc>
              <a:spcAft>
                <a:spcPts val="800"/>
              </a:spcAft>
              <a:buClr>
                <a:srgbClr val="F19651"/>
              </a:buClr>
              <a:buFont typeface="Georgia"/>
              <a:buChar char="•"/>
            </a:pPr>
            <a:r>
              <a:rPr sz="1600">
                <a:solidFill>
                  <a:srgbClr val="000000"/>
                </a:solidFill>
                <a:latin typeface="Georgia"/>
              </a:rPr>
              <a:t>Conclusión principal 2.</a:t>
            </a:r>
          </a:p>
          <a:p>
            <a:pPr algn="l" marL="285750" indent="-285750">
              <a:lnSpc>
                <a:spcPct val="115000"/>
              </a:lnSpc>
              <a:spcAft>
                <a:spcPts val="800"/>
              </a:spcAft>
              <a:buClr>
                <a:srgbClr val="F19651"/>
              </a:buClr>
              <a:buFont typeface="Georgia"/>
              <a:buChar char="•"/>
            </a:pPr>
            <a:r>
              <a:rPr sz="1600">
                <a:solidFill>
                  <a:srgbClr val="000000"/>
                </a:solidFill>
                <a:latin typeface="Georgia"/>
              </a:rPr>
              <a:t>Proyecciones o trabajo futuro.</a:t>
            </a:r>
          </a:p>
        </p:txBody>
      </p:sp>
      <p:sp>
        <p:nvSpPr>
          <p:cNvPr id="35" name="Round Diagonal Corner Rectangle 34"/>
          <p:cNvSpPr/>
          <p:nvPr/>
        </p:nvSpPr>
        <p:spPr>
          <a:xfrm>
            <a:off x="15588000" y="28620000"/>
            <a:ext cx="14148000" cy="4320000"/>
          </a:xfrm>
          <a:prstGeom prst="round2DiagRect">
            <a:avLst>
              <a:gd name="adj1" fmla="val 5833"/>
              <a:gd name="adj2" fmla="val 5833"/>
            </a:avLst>
          </a:prstGeom>
          <a:solidFill>
            <a:srgbClr val="FFFFFF"/>
          </a:solidFill>
          <a:ln w="25400">
            <a:solidFill>
              <a:srgbClr val="F7C5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6092000" y="29124000"/>
            <a:ext cx="13140000" cy="720000"/>
          </a:xfrm>
          <a:prstGeom prst="rect">
            <a:avLst/>
          </a:prstGeom>
          <a:noFill/>
        </p:spPr>
        <p:txBody>
          <a:bodyPr wrap="square">
            <a:spAutoFit/>
          </a:bodyPr>
          <a:lstStyle/>
          <a:p>
            <a:pPr algn="l">
              <a:lnSpc>
                <a:spcPct val="115000"/>
              </a:lnSpc>
            </a:pPr>
            <a:r>
              <a:rPr sz="2800" b="1" i="0">
                <a:solidFill>
                  <a:srgbClr val="1C6EA8"/>
                </a:solidFill>
                <a:latin typeface="Arial"/>
              </a:rPr>
              <a:t>Referencias</a:t>
            </a:r>
          </a:p>
        </p:txBody>
      </p:sp>
      <p:sp>
        <p:nvSpPr>
          <p:cNvPr id="37" name="TextBox 36"/>
          <p:cNvSpPr txBox="1"/>
          <p:nvPr/>
        </p:nvSpPr>
        <p:spPr>
          <a:xfrm>
            <a:off x="16092000" y="30060000"/>
            <a:ext cx="13140000" cy="2376000"/>
          </a:xfrm>
          <a:prstGeom prst="rect">
            <a:avLst/>
          </a:prstGeom>
          <a:noFill/>
        </p:spPr>
        <p:txBody>
          <a:bodyPr wrap="square">
            <a:spAutoFit/>
          </a:bodyPr>
          <a:lstStyle/>
          <a:p>
            <a:pPr algn="l">
              <a:lnSpc>
                <a:spcPct val="115000"/>
              </a:lnSpc>
            </a:pPr>
            <a:r>
              <a:rPr sz="1300" b="0" i="0">
                <a:solidFill>
                  <a:srgbClr val="000000"/>
                </a:solidFill>
                <a:latin typeface="Georgia"/>
              </a:rPr>
              <a:t>[1] Apellido, N. (Año). Título del artículo. Revista, vol(núm), páginas.</a:t>
            </a:r>
          </a:p>
          <a:p>
            <a:pPr algn="l">
              <a:lnSpc>
                <a:spcPct val="115000"/>
              </a:lnSpc>
            </a:pPr>
            <a:r>
              <a:rPr sz="1300" b="0" i="0">
                <a:solidFill>
                  <a:srgbClr val="000000"/>
                </a:solidFill>
                <a:latin typeface="Georgia"/>
              </a:rPr>
              <a:t/>
            </a:r>
          </a:p>
          <a:p>
            <a:pPr algn="l">
              <a:lnSpc>
                <a:spcPct val="115000"/>
              </a:lnSpc>
            </a:pPr>
            <a:r>
              <a:rPr sz="1300" b="0" i="0">
                <a:solidFill>
                  <a:srgbClr val="000000"/>
                </a:solidFill>
                <a:latin typeface="Georgia"/>
              </a:rPr>
              <a:t>[2] Apellido, N. &amp; Apellido, N. (Año). Título del artículo. Revista, vol(núm), páginas.</a:t>
            </a:r>
          </a:p>
          <a:p>
            <a:pPr algn="l">
              <a:lnSpc>
                <a:spcPct val="115000"/>
              </a:lnSpc>
            </a:pPr>
            <a:r>
              <a:rPr sz="1300" b="0" i="0">
                <a:solidFill>
                  <a:srgbClr val="000000"/>
                </a:solidFill>
                <a:latin typeface="Georgia"/>
              </a:rPr>
              <a:t/>
            </a:r>
          </a:p>
          <a:p>
            <a:pPr algn="l">
              <a:lnSpc>
                <a:spcPct val="115000"/>
              </a:lnSpc>
            </a:pPr>
            <a:r>
              <a:rPr sz="1300" b="0" i="0">
                <a:solidFill>
                  <a:srgbClr val="000000"/>
                </a:solidFill>
                <a:latin typeface="Georgia"/>
              </a:rPr>
              <a:t>[3] Apellido, N., Apellido, N. &amp; Apellido, N. (Año). Título del artículo. Revista, vol(núm), páginas.</a:t>
            </a:r>
          </a:p>
        </p:txBody>
      </p:sp>
      <p:sp>
        <p:nvSpPr>
          <p:cNvPr id="38" name="Round Diagonal Corner Rectangle 37"/>
          <p:cNvSpPr/>
          <p:nvPr/>
        </p:nvSpPr>
        <p:spPr>
          <a:xfrm>
            <a:off x="15588000" y="33660000"/>
            <a:ext cx="14148000" cy="2700000"/>
          </a:xfrm>
          <a:prstGeom prst="round2DiagRect">
            <a:avLst>
              <a:gd name="adj1" fmla="val 9333"/>
              <a:gd name="adj2" fmla="val 9333"/>
            </a:avLst>
          </a:prstGeom>
          <a:solidFill>
            <a:srgbClr val="FFFFFF"/>
          </a:solidFill>
          <a:ln w="25400">
            <a:solidFill>
              <a:srgbClr val="F7C5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092000" y="34164000"/>
            <a:ext cx="13140000" cy="720000"/>
          </a:xfrm>
          <a:prstGeom prst="rect">
            <a:avLst/>
          </a:prstGeom>
          <a:noFill/>
        </p:spPr>
        <p:txBody>
          <a:bodyPr wrap="square">
            <a:spAutoFit/>
          </a:bodyPr>
          <a:lstStyle/>
          <a:p>
            <a:pPr algn="l">
              <a:lnSpc>
                <a:spcPct val="115000"/>
              </a:lnSpc>
            </a:pPr>
            <a:r>
              <a:rPr sz="2800" b="1" i="0">
                <a:solidFill>
                  <a:srgbClr val="1C6EA8"/>
                </a:solidFill>
                <a:latin typeface="Arial"/>
              </a:rPr>
              <a:t>Agradecimientos</a:t>
            </a:r>
          </a:p>
        </p:txBody>
      </p:sp>
      <p:sp>
        <p:nvSpPr>
          <p:cNvPr id="40" name="TextBox 39"/>
          <p:cNvSpPr txBox="1"/>
          <p:nvPr/>
        </p:nvSpPr>
        <p:spPr>
          <a:xfrm>
            <a:off x="16092000" y="35100000"/>
            <a:ext cx="13140000" cy="756000"/>
          </a:xfrm>
          <a:prstGeom prst="rect">
            <a:avLst/>
          </a:prstGeom>
          <a:noFill/>
        </p:spPr>
        <p:txBody>
          <a:bodyPr wrap="square">
            <a:spAutoFit/>
          </a:bodyPr>
          <a:lstStyle/>
          <a:p>
            <a:pPr algn="l">
              <a:lnSpc>
                <a:spcPct val="115000"/>
              </a:lnSpc>
            </a:pPr>
            <a:r>
              <a:rPr sz="1500" b="0" i="0">
                <a:solidFill>
                  <a:srgbClr val="000000"/>
                </a:solidFill>
                <a:latin typeface="Georgia"/>
              </a:rPr>
              <a:t>Financiamiento, institución o colegas a reconocer.</a:t>
            </a:r>
          </a:p>
          <a:p>
            <a:pPr algn="l">
              <a:lnSpc>
                <a:spcPct val="115000"/>
              </a:lnSpc>
            </a:pPr>
            <a:r>
              <a:rPr sz="1500" b="0" i="0">
                <a:solidFill>
                  <a:srgbClr val="000000"/>
                </a:solidFill>
                <a:latin typeface="Georgia"/>
              </a:rPr>
              <a:t/>
            </a:r>
          </a:p>
          <a:p>
            <a:pPr algn="l">
              <a:lnSpc>
                <a:spcPct val="115000"/>
              </a:lnSpc>
            </a:pPr>
            <a:r>
              <a:rPr sz="1500" b="0" i="0">
                <a:solidFill>
                  <a:srgbClr val="000000"/>
                </a:solidFill>
                <a:latin typeface="Georgia"/>
              </a:rPr>
              <a:t>Ut enim ad minim veniam, quis nostrud exercitation ullamco laboris nisi ut aliquip ex ea commodo consequat.</a:t>
            </a:r>
          </a:p>
        </p:txBody>
      </p:sp>
      <p:sp>
        <p:nvSpPr>
          <p:cNvPr id="41" name="Round Diagonal Corner Rectangle 40"/>
          <p:cNvSpPr/>
          <p:nvPr/>
        </p:nvSpPr>
        <p:spPr>
          <a:xfrm>
            <a:off x="540000" y="39024000"/>
            <a:ext cx="29196000" cy="3240000"/>
          </a:xfrm>
          <a:prstGeom prst="round2DiagRect">
            <a:avLst>
              <a:gd name="adj1" fmla="val 7777"/>
              <a:gd name="adj2" fmla="val 7777"/>
            </a:avLst>
          </a:prstGeom>
          <a:solidFill>
            <a:srgbClr val="FFFFFF"/>
          </a:solidFill>
          <a:ln w="25400">
            <a:solidFill>
              <a:srgbClr val="F7C5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4000" y="39528000"/>
            <a:ext cx="28188000" cy="576000"/>
          </a:xfrm>
          <a:prstGeom prst="rect">
            <a:avLst/>
          </a:prstGeom>
          <a:noFill/>
        </p:spPr>
        <p:txBody>
          <a:bodyPr wrap="square">
            <a:spAutoFit/>
          </a:bodyPr>
          <a:lstStyle/>
          <a:p>
            <a:pPr algn="ctr">
              <a:lnSpc>
                <a:spcPct val="115000"/>
              </a:lnSpc>
            </a:pPr>
            <a:r>
              <a:rPr sz="1500" b="0" i="1">
                <a:solidFill>
                  <a:srgbClr val="333333"/>
                </a:solidFill>
                <a:latin typeface="Georgia"/>
              </a:rPr>
              <a:t>Esta franja es opcional: puede usarla para agregar más logos, información adicional, un código QR, etc., o eliminarla por completo si no la necesita.</a:t>
            </a:r>
          </a:p>
        </p:txBody>
      </p:sp>
      <p:pic>
        <p:nvPicPr>
          <p:cNvPr id="43" name="Picture 42" descr="logo_custom1.png"/>
          <p:cNvPicPr>
            <a:picLocks noChangeAspect="1"/>
          </p:cNvPicPr>
          <p:nvPr/>
        </p:nvPicPr>
        <p:blipFill>
          <a:blip r:embed="rId5"/>
          <a:stretch>
            <a:fillRect/>
          </a:stretch>
        </p:blipFill>
        <p:spPr>
          <a:xfrm>
            <a:off x="12117000" y="39780000"/>
            <a:ext cx="2805000" cy="1980000"/>
          </a:xfrm>
          <a:prstGeom prst="rect">
            <a:avLst/>
          </a:prstGeom>
        </p:spPr>
      </p:pic>
      <p:pic>
        <p:nvPicPr>
          <p:cNvPr id="44" name="Picture 43" descr="logo_custom1.png"/>
          <p:cNvPicPr>
            <a:picLocks noChangeAspect="1"/>
          </p:cNvPicPr>
          <p:nvPr/>
        </p:nvPicPr>
        <p:blipFill>
          <a:blip r:embed="rId5"/>
          <a:stretch>
            <a:fillRect/>
          </a:stretch>
        </p:blipFill>
        <p:spPr>
          <a:xfrm>
            <a:off x="15354000" y="39780000"/>
            <a:ext cx="2805000" cy="198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